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83" d="100"/>
          <a:sy n="83" d="100"/>
        </p:scale>
        <p:origin x="686" y="67"/>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FA590D-075C-C369-A062-93EBCF2B2B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832D1A0-10AF-4212-2EF2-87B77CE830F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96139-BE39-4FF6-8161-092BBFEAEADC}" type="datetimeFigureOut">
              <a:rPr lang="en-IN" smtClean="0"/>
              <a:t>14-05-2026</a:t>
            </a:fld>
            <a:endParaRPr lang="en-IN"/>
          </a:p>
        </p:txBody>
      </p:sp>
      <p:sp>
        <p:nvSpPr>
          <p:cNvPr id="4" name="Slide Image Placeholder 3">
            <a:extLst>
              <a:ext uri="{FF2B5EF4-FFF2-40B4-BE49-F238E27FC236}">
                <a16:creationId xmlns:a16="http://schemas.microsoft.com/office/drawing/2014/main" id="{173FAFE3-3709-011C-C4A0-6373F9E35C13}"/>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a:extLst>
              <a:ext uri="{FF2B5EF4-FFF2-40B4-BE49-F238E27FC236}">
                <a16:creationId xmlns:a16="http://schemas.microsoft.com/office/drawing/2014/main" id="{522350B4-AF82-9718-CFEA-FCBD6470694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6A93EE95-3902-C582-622D-8DEC202858A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a:extLst>
              <a:ext uri="{FF2B5EF4-FFF2-40B4-BE49-F238E27FC236}">
                <a16:creationId xmlns:a16="http://schemas.microsoft.com/office/drawing/2014/main" id="{5D5D234B-FD18-72D3-0928-CB47CEA236B6}"/>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A8FD1-2E38-4132-8AA2-7DBF15E54D51}"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p:nvPr/>
        </p:nvSpPr>
        <p:spPr>
          <a:xfrm>
            <a:off x="1" y="2651760"/>
            <a:ext cx="12192000" cy="777240"/>
          </a:xfrm>
          <a:prstGeom prst="rect">
            <a:avLst/>
          </a:prstGeom>
          <a:noFill/>
          <a:ln>
            <a:noFill/>
          </a:ln>
        </p:spPr>
        <p:txBody>
          <a:bodyPr rtlCol="0" anchor="ctr"/>
          <a:lstStyle/>
          <a:p>
            <a:pPr algn="ctr"/>
            <a:r>
              <a:rPr lang="en-US" sz="3800" b="1" dirty="0">
                <a:solidFill>
                  <a:srgbClr val="FFFFFF"/>
                </a:solidFill>
              </a:rPr>
              <a:t>Host Header Injection Testing</a:t>
            </a:r>
          </a:p>
        </p:txBody>
      </p:sp>
      <p:sp>
        <p:nvSpPr>
          <p:cNvPr id="3" name="SubBox"/>
          <p:cNvSpPr/>
          <p:nvPr/>
        </p:nvSpPr>
        <p:spPr>
          <a:xfrm>
            <a:off x="1" y="3493008"/>
            <a:ext cx="12192000" cy="502920"/>
          </a:xfrm>
          <a:prstGeom prst="rect">
            <a:avLst/>
          </a:prstGeom>
          <a:noFill/>
          <a:ln>
            <a:noFill/>
          </a:ln>
        </p:spPr>
        <p:txBody>
          <a:bodyPr rtlCol="0" anchor="ctr"/>
          <a:lstStyle/>
          <a:p>
            <a:pPr algn="ctr"/>
            <a:r>
              <a:rPr lang="en-US" sz="1700" dirty="0">
                <a:solidFill>
                  <a:srgbClr val="AACCFF"/>
                </a:solidFill>
              </a:rPr>
              <a:t>Using BurpSuite Community Edition  |  PortSwigger Web Security Academy  |  Severity: HIGH</a:t>
            </a:r>
          </a:p>
        </p:txBody>
      </p:sp>
      <p:sp>
        <p:nvSpPr>
          <p:cNvPr id="4" name="Badge"/>
          <p:cNvSpPr/>
          <p:nvPr/>
        </p:nvSpPr>
        <p:spPr>
          <a:xfrm>
            <a:off x="4724400" y="4151745"/>
            <a:ext cx="2743200" cy="411480"/>
          </a:xfrm>
          <a:prstGeom prst="rect">
            <a:avLst/>
          </a:prstGeom>
          <a:solidFill>
            <a:srgbClr val="C0392B"/>
          </a:solidFill>
          <a:ln>
            <a:noFill/>
          </a:ln>
        </p:spPr>
        <p:txBody>
          <a:bodyPr rtlCol="0" anchor="ctr"/>
          <a:lstStyle/>
          <a:p>
            <a:pPr algn="ctr"/>
            <a:r>
              <a:rPr lang="en-US" sz="1500" b="1" dirty="0">
                <a:solidFill>
                  <a:srgbClr val="FFFFFF"/>
                </a:solidFill>
              </a:rPr>
              <a:t>⚠ SEVERITY: HIGH — Immediate Action Required</a:t>
            </a:r>
          </a:p>
        </p:txBody>
      </p:sp>
      <p:sp>
        <p:nvSpPr>
          <p:cNvPr id="7" name="TextBox 6">
            <a:extLst>
              <a:ext uri="{FF2B5EF4-FFF2-40B4-BE49-F238E27FC236}">
                <a16:creationId xmlns:a16="http://schemas.microsoft.com/office/drawing/2014/main" id="{234E7EA8-A11F-A4FD-B1BC-567EE1EBFDE6}"/>
              </a:ext>
            </a:extLst>
          </p:cNvPr>
          <p:cNvSpPr txBox="1"/>
          <p:nvPr/>
        </p:nvSpPr>
        <p:spPr>
          <a:xfrm>
            <a:off x="4431634" y="5357092"/>
            <a:ext cx="3328732" cy="707886"/>
          </a:xfrm>
          <a:prstGeom prst="rect">
            <a:avLst/>
          </a:prstGeom>
          <a:noFill/>
        </p:spPr>
        <p:txBody>
          <a:bodyPr wrap="none" rtlCol="0">
            <a:spAutoFit/>
          </a:bodyPr>
          <a:lstStyle/>
          <a:p>
            <a:pPr algn="ctr"/>
            <a:r>
              <a:rPr lang="en-US" sz="2400" b="1" dirty="0">
                <a:solidFill>
                  <a:schemeClr val="bg1"/>
                </a:solidFill>
              </a:rPr>
              <a:t>MOHAMMED ALI</a:t>
            </a:r>
          </a:p>
          <a:p>
            <a:r>
              <a:rPr lang="en-US" sz="1600" b="1" dirty="0">
                <a:solidFill>
                  <a:schemeClr val="bg1"/>
                </a:solidFill>
              </a:rPr>
              <a:t>CYBERSECURITY &amp; ETHICAL HACKING</a:t>
            </a:r>
            <a:endParaRPr lang="en-IN" sz="16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Agenda</a:t>
            </a:r>
          </a:p>
        </p:txBody>
      </p:sp>
      <p:sp>
        <p:nvSpPr>
          <p:cNvPr id="10" name="AgBg0"/>
          <p:cNvSpPr/>
          <p:nvPr/>
        </p:nvSpPr>
        <p:spPr>
          <a:xfrm>
            <a:off x="320040" y="1115568"/>
            <a:ext cx="5120640" cy="987552"/>
          </a:xfrm>
          <a:prstGeom prst="rect">
            <a:avLst/>
          </a:prstGeom>
          <a:solidFill>
            <a:srgbClr val="1F2D54"/>
          </a:solidFill>
          <a:ln>
            <a:noFill/>
          </a:ln>
        </p:spPr>
        <p:txBody>
          <a:bodyPr/>
          <a:lstStyle/>
          <a:p>
            <a:endParaRPr/>
          </a:p>
        </p:txBody>
      </p:sp>
      <p:sp>
        <p:nvSpPr>
          <p:cNvPr id="11" name="AgTxt0"/>
          <p:cNvSpPr/>
          <p:nvPr/>
        </p:nvSpPr>
        <p:spPr>
          <a:xfrm>
            <a:off x="457200" y="1207008"/>
            <a:ext cx="4846320" cy="877824"/>
          </a:xfrm>
          <a:prstGeom prst="rect">
            <a:avLst/>
          </a:prstGeom>
          <a:noFill/>
          <a:ln>
            <a:noFill/>
          </a:ln>
        </p:spPr>
        <p:txBody>
          <a:bodyPr anchor="t"/>
          <a:lstStyle/>
          <a:p>
            <a:pPr algn="l">
              <a:buNone/>
            </a:pPr>
            <a:r>
              <a:rPr lang="en-US" sz="1450" b="1" dirty="0">
                <a:solidFill>
                  <a:srgbClr val="FFFFFF"/>
                </a:solidFill>
              </a:rPr>
              <a:t>01  Introduction to Host Header Injection</a:t>
            </a:r>
          </a:p>
          <a:p>
            <a:pPr algn="l">
              <a:buNone/>
            </a:pPr>
            <a:r>
              <a:rPr lang="en-US" sz="1200" dirty="0">
                <a:solidFill>
                  <a:srgbClr val="C5D9F0"/>
                </a:solidFill>
              </a:rPr>
              <a:t>Understanding the vulnerability, attack surface, and exploitation mechanics</a:t>
            </a:r>
          </a:p>
        </p:txBody>
      </p:sp>
      <p:sp>
        <p:nvSpPr>
          <p:cNvPr id="13" name="AgBg1"/>
          <p:cNvSpPr/>
          <p:nvPr/>
        </p:nvSpPr>
        <p:spPr>
          <a:xfrm>
            <a:off x="5715000" y="1115568"/>
            <a:ext cx="5120640" cy="987552"/>
          </a:xfrm>
          <a:prstGeom prst="rect">
            <a:avLst/>
          </a:prstGeom>
          <a:solidFill>
            <a:srgbClr val="2E6DA4"/>
          </a:solidFill>
          <a:ln>
            <a:noFill/>
          </a:ln>
        </p:spPr>
        <p:txBody>
          <a:bodyPr/>
          <a:lstStyle/>
          <a:p>
            <a:endParaRPr/>
          </a:p>
        </p:txBody>
      </p:sp>
      <p:sp>
        <p:nvSpPr>
          <p:cNvPr id="14" name="AgTxt1"/>
          <p:cNvSpPr/>
          <p:nvPr/>
        </p:nvSpPr>
        <p:spPr>
          <a:xfrm>
            <a:off x="5852160" y="1207008"/>
            <a:ext cx="4846320" cy="877824"/>
          </a:xfrm>
          <a:prstGeom prst="rect">
            <a:avLst/>
          </a:prstGeom>
          <a:noFill/>
          <a:ln>
            <a:noFill/>
          </a:ln>
        </p:spPr>
        <p:txBody>
          <a:bodyPr anchor="t"/>
          <a:lstStyle/>
          <a:p>
            <a:pPr algn="l">
              <a:buNone/>
            </a:pPr>
            <a:r>
              <a:rPr lang="en-US" sz="1450" b="1" dirty="0">
                <a:solidFill>
                  <a:srgbClr val="FFFFFF"/>
                </a:solidFill>
              </a:rPr>
              <a:t>02  Lab Environment &amp; Tools Setup</a:t>
            </a:r>
          </a:p>
          <a:p>
            <a:pPr algn="l">
              <a:buNone/>
            </a:pPr>
            <a:r>
              <a:rPr lang="en-US" sz="1200" dirty="0">
                <a:solidFill>
                  <a:srgbClr val="C5D9F0"/>
                </a:solidFill>
              </a:rPr>
              <a:t>BurpSuite Community Edition, Proxy, Repeater, PortSwigger Academy labs</a:t>
            </a:r>
          </a:p>
        </p:txBody>
      </p:sp>
      <p:sp>
        <p:nvSpPr>
          <p:cNvPr id="16" name="AgBg2"/>
          <p:cNvSpPr/>
          <p:nvPr/>
        </p:nvSpPr>
        <p:spPr>
          <a:xfrm>
            <a:off x="320040" y="2231136"/>
            <a:ext cx="5120640" cy="987552"/>
          </a:xfrm>
          <a:prstGeom prst="rect">
            <a:avLst/>
          </a:prstGeom>
          <a:solidFill>
            <a:srgbClr val="1F2D54"/>
          </a:solidFill>
          <a:ln>
            <a:noFill/>
          </a:ln>
        </p:spPr>
        <p:txBody>
          <a:bodyPr/>
          <a:lstStyle/>
          <a:p>
            <a:endParaRPr/>
          </a:p>
        </p:txBody>
      </p:sp>
      <p:sp>
        <p:nvSpPr>
          <p:cNvPr id="17" name="AgTxt2"/>
          <p:cNvSpPr/>
          <p:nvPr/>
        </p:nvSpPr>
        <p:spPr>
          <a:xfrm>
            <a:off x="457200" y="2322576"/>
            <a:ext cx="4846320" cy="877824"/>
          </a:xfrm>
          <a:prstGeom prst="rect">
            <a:avLst/>
          </a:prstGeom>
          <a:noFill/>
          <a:ln>
            <a:noFill/>
          </a:ln>
        </p:spPr>
        <p:txBody>
          <a:bodyPr anchor="t"/>
          <a:lstStyle/>
          <a:p>
            <a:pPr algn="l">
              <a:buNone/>
            </a:pPr>
            <a:r>
              <a:rPr lang="en-US" sz="1450" b="1" dirty="0">
                <a:solidFill>
                  <a:srgbClr val="FFFFFF"/>
                </a:solidFill>
              </a:rPr>
              <a:t>03  BurpSuite Workflow &amp; Traffic Interception</a:t>
            </a:r>
          </a:p>
          <a:p>
            <a:pPr algn="l">
              <a:buNone/>
            </a:pPr>
            <a:r>
              <a:rPr lang="en-US" sz="1200" dirty="0">
                <a:solidFill>
                  <a:srgbClr val="C5D9F0"/>
                </a:solidFill>
              </a:rPr>
              <a:t>Proxy configuration, HTTPS interception, HTTP History capture</a:t>
            </a:r>
          </a:p>
        </p:txBody>
      </p:sp>
      <p:sp>
        <p:nvSpPr>
          <p:cNvPr id="19" name="AgBg3"/>
          <p:cNvSpPr/>
          <p:nvPr/>
        </p:nvSpPr>
        <p:spPr>
          <a:xfrm>
            <a:off x="5715000" y="2231136"/>
            <a:ext cx="5120640" cy="987552"/>
          </a:xfrm>
          <a:prstGeom prst="rect">
            <a:avLst/>
          </a:prstGeom>
          <a:solidFill>
            <a:srgbClr val="2E6DA4"/>
          </a:solidFill>
          <a:ln>
            <a:noFill/>
          </a:ln>
        </p:spPr>
        <p:txBody>
          <a:bodyPr/>
          <a:lstStyle/>
          <a:p>
            <a:endParaRPr/>
          </a:p>
        </p:txBody>
      </p:sp>
      <p:sp>
        <p:nvSpPr>
          <p:cNvPr id="20" name="AgTxt3"/>
          <p:cNvSpPr/>
          <p:nvPr/>
        </p:nvSpPr>
        <p:spPr>
          <a:xfrm>
            <a:off x="5852160" y="2322576"/>
            <a:ext cx="4846320" cy="877824"/>
          </a:xfrm>
          <a:prstGeom prst="rect">
            <a:avLst/>
          </a:prstGeom>
          <a:noFill/>
          <a:ln>
            <a:noFill/>
          </a:ln>
        </p:spPr>
        <p:txBody>
          <a:bodyPr anchor="t"/>
          <a:lstStyle/>
          <a:p>
            <a:pPr algn="l">
              <a:buNone/>
            </a:pPr>
            <a:r>
              <a:rPr lang="en-US" sz="1450" b="1" dirty="0">
                <a:solidFill>
                  <a:srgbClr val="FFFFFF"/>
                </a:solidFill>
              </a:rPr>
              <a:t>04  Host Header Manipulation Testing</a:t>
            </a:r>
          </a:p>
          <a:p>
            <a:pPr algn="l">
              <a:buNone/>
            </a:pPr>
            <a:r>
              <a:rPr lang="en-US" sz="1200" dirty="0">
                <a:solidFill>
                  <a:srgbClr val="C5D9F0"/>
                </a:solidFill>
              </a:rPr>
              <a:t>Direct Host header injection, exploit server domain poisoning</a:t>
            </a:r>
          </a:p>
        </p:txBody>
      </p:sp>
      <p:sp>
        <p:nvSpPr>
          <p:cNvPr id="22" name="AgBg4"/>
          <p:cNvSpPr/>
          <p:nvPr/>
        </p:nvSpPr>
        <p:spPr>
          <a:xfrm>
            <a:off x="320040" y="3346704"/>
            <a:ext cx="5120640" cy="987552"/>
          </a:xfrm>
          <a:prstGeom prst="rect">
            <a:avLst/>
          </a:prstGeom>
          <a:solidFill>
            <a:srgbClr val="1F2D54"/>
          </a:solidFill>
          <a:ln>
            <a:noFill/>
          </a:ln>
        </p:spPr>
        <p:txBody>
          <a:bodyPr/>
          <a:lstStyle/>
          <a:p>
            <a:endParaRPr/>
          </a:p>
        </p:txBody>
      </p:sp>
      <p:sp>
        <p:nvSpPr>
          <p:cNvPr id="23" name="AgTxt4"/>
          <p:cNvSpPr/>
          <p:nvPr/>
        </p:nvSpPr>
        <p:spPr>
          <a:xfrm>
            <a:off x="457200" y="3438144"/>
            <a:ext cx="4846320" cy="877824"/>
          </a:xfrm>
          <a:prstGeom prst="rect">
            <a:avLst/>
          </a:prstGeom>
          <a:noFill/>
          <a:ln>
            <a:noFill/>
          </a:ln>
        </p:spPr>
        <p:txBody>
          <a:bodyPr anchor="t"/>
          <a:lstStyle/>
          <a:p>
            <a:pPr algn="l">
              <a:buNone/>
            </a:pPr>
            <a:r>
              <a:rPr lang="en-US" sz="1450" b="1" dirty="0">
                <a:solidFill>
                  <a:srgbClr val="FFFFFF"/>
                </a:solidFill>
              </a:rPr>
              <a:t>05  X-Forwarded-Host &amp; Duplicate Header Testing</a:t>
            </a:r>
          </a:p>
          <a:p>
            <a:pPr algn="l">
              <a:buNone/>
            </a:pPr>
            <a:r>
              <a:rPr lang="en-US" sz="1200" dirty="0">
                <a:solidFill>
                  <a:srgbClr val="C5D9F0"/>
                </a:solidFill>
              </a:rPr>
              <a:t>Advanced injection vectors and parsing ambiguity exploitation</a:t>
            </a:r>
          </a:p>
        </p:txBody>
      </p:sp>
      <p:sp>
        <p:nvSpPr>
          <p:cNvPr id="25" name="AgBg5"/>
          <p:cNvSpPr/>
          <p:nvPr/>
        </p:nvSpPr>
        <p:spPr>
          <a:xfrm>
            <a:off x="5715000" y="3346704"/>
            <a:ext cx="5120640" cy="987552"/>
          </a:xfrm>
          <a:prstGeom prst="rect">
            <a:avLst/>
          </a:prstGeom>
          <a:solidFill>
            <a:srgbClr val="2E6DA4"/>
          </a:solidFill>
          <a:ln>
            <a:noFill/>
          </a:ln>
        </p:spPr>
        <p:txBody>
          <a:bodyPr/>
          <a:lstStyle/>
          <a:p>
            <a:endParaRPr/>
          </a:p>
        </p:txBody>
      </p:sp>
      <p:sp>
        <p:nvSpPr>
          <p:cNvPr id="26" name="AgTxt5"/>
          <p:cNvSpPr/>
          <p:nvPr/>
        </p:nvSpPr>
        <p:spPr>
          <a:xfrm>
            <a:off x="5852160" y="3438144"/>
            <a:ext cx="4846320" cy="877824"/>
          </a:xfrm>
          <a:prstGeom prst="rect">
            <a:avLst/>
          </a:prstGeom>
          <a:noFill/>
          <a:ln>
            <a:noFill/>
          </a:ln>
        </p:spPr>
        <p:txBody>
          <a:bodyPr anchor="t"/>
          <a:lstStyle/>
          <a:p>
            <a:pPr algn="l">
              <a:buNone/>
            </a:pPr>
            <a:r>
              <a:rPr lang="en-US" sz="1450" b="1" dirty="0">
                <a:solidFill>
                  <a:srgbClr val="FFFFFF"/>
                </a:solidFill>
              </a:rPr>
              <a:t>06  Exploit Server Validation</a:t>
            </a:r>
          </a:p>
          <a:p>
            <a:pPr algn="l">
              <a:buNone/>
            </a:pPr>
            <a:r>
              <a:rPr lang="en-US" sz="1200" dirty="0">
                <a:solidFill>
                  <a:srgbClr val="C5D9F0"/>
                </a:solidFill>
              </a:rPr>
              <a:t>Attacker-controlled domain simulation and response confirmation</a:t>
            </a:r>
          </a:p>
        </p:txBody>
      </p:sp>
      <p:sp>
        <p:nvSpPr>
          <p:cNvPr id="28" name="AgBg6"/>
          <p:cNvSpPr/>
          <p:nvPr/>
        </p:nvSpPr>
        <p:spPr>
          <a:xfrm>
            <a:off x="320040" y="4462272"/>
            <a:ext cx="5120640" cy="987552"/>
          </a:xfrm>
          <a:prstGeom prst="rect">
            <a:avLst/>
          </a:prstGeom>
          <a:solidFill>
            <a:srgbClr val="1F2D54"/>
          </a:solidFill>
          <a:ln>
            <a:noFill/>
          </a:ln>
        </p:spPr>
        <p:txBody>
          <a:bodyPr/>
          <a:lstStyle/>
          <a:p>
            <a:endParaRPr/>
          </a:p>
        </p:txBody>
      </p:sp>
      <p:sp>
        <p:nvSpPr>
          <p:cNvPr id="29" name="AgTxt6"/>
          <p:cNvSpPr/>
          <p:nvPr/>
        </p:nvSpPr>
        <p:spPr>
          <a:xfrm>
            <a:off x="457200" y="4553712"/>
            <a:ext cx="4846320" cy="877824"/>
          </a:xfrm>
          <a:prstGeom prst="rect">
            <a:avLst/>
          </a:prstGeom>
          <a:noFill/>
          <a:ln>
            <a:noFill/>
          </a:ln>
        </p:spPr>
        <p:txBody>
          <a:bodyPr anchor="t"/>
          <a:lstStyle/>
          <a:p>
            <a:pPr algn="l">
              <a:buNone/>
            </a:pPr>
            <a:r>
              <a:rPr lang="en-US" sz="1450" b="1" dirty="0">
                <a:solidFill>
                  <a:srgbClr val="FFFFFF"/>
                </a:solidFill>
              </a:rPr>
              <a:t>07  Key Findings &amp; Risk Analysis</a:t>
            </a:r>
          </a:p>
          <a:p>
            <a:pPr algn="l">
              <a:buNone/>
            </a:pPr>
            <a:r>
              <a:rPr lang="en-US" sz="1200" dirty="0">
                <a:solidFill>
                  <a:srgbClr val="C5D9F0"/>
                </a:solidFill>
              </a:rPr>
              <a:t>Severity assessment, risk matrix, and exploitability evaluation</a:t>
            </a:r>
          </a:p>
        </p:txBody>
      </p:sp>
      <p:sp>
        <p:nvSpPr>
          <p:cNvPr id="31" name="AgBg7"/>
          <p:cNvSpPr/>
          <p:nvPr/>
        </p:nvSpPr>
        <p:spPr>
          <a:xfrm>
            <a:off x="5715000" y="4462272"/>
            <a:ext cx="5120640" cy="987552"/>
          </a:xfrm>
          <a:prstGeom prst="rect">
            <a:avLst/>
          </a:prstGeom>
          <a:solidFill>
            <a:srgbClr val="2E6DA4"/>
          </a:solidFill>
          <a:ln>
            <a:noFill/>
          </a:ln>
        </p:spPr>
        <p:txBody>
          <a:bodyPr/>
          <a:lstStyle/>
          <a:p>
            <a:endParaRPr/>
          </a:p>
        </p:txBody>
      </p:sp>
      <p:sp>
        <p:nvSpPr>
          <p:cNvPr id="32" name="AgTxt7"/>
          <p:cNvSpPr/>
          <p:nvPr/>
        </p:nvSpPr>
        <p:spPr>
          <a:xfrm>
            <a:off x="5852160" y="4553712"/>
            <a:ext cx="4846320" cy="877824"/>
          </a:xfrm>
          <a:prstGeom prst="rect">
            <a:avLst/>
          </a:prstGeom>
          <a:noFill/>
          <a:ln>
            <a:noFill/>
          </a:ln>
        </p:spPr>
        <p:txBody>
          <a:bodyPr anchor="t"/>
          <a:lstStyle/>
          <a:p>
            <a:pPr algn="l">
              <a:buNone/>
            </a:pPr>
            <a:r>
              <a:rPr lang="en-US" sz="1450" b="1" dirty="0">
                <a:solidFill>
                  <a:srgbClr val="FFFFFF"/>
                </a:solidFill>
              </a:rPr>
              <a:t>08  Mitigation Strategies &amp; Conclusion</a:t>
            </a:r>
          </a:p>
          <a:p>
            <a:pPr algn="l">
              <a:buNone/>
            </a:pPr>
            <a:r>
              <a:rPr lang="en-US" sz="1200" dirty="0">
                <a:solidFill>
                  <a:srgbClr val="C5D9F0"/>
                </a:solidFill>
              </a:rPr>
              <a:t>Remediation recommendations and security hardening guidance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Introduction — Host Header Injection</a:t>
            </a:r>
          </a:p>
        </p:txBody>
      </p:sp>
      <p:sp>
        <p:nvSpPr>
          <p:cNvPr id="3" name="IntroLeft"/>
          <p:cNvSpPr/>
          <p:nvPr/>
        </p:nvSpPr>
        <p:spPr>
          <a:xfrm>
            <a:off x="320040" y="1115568"/>
            <a:ext cx="5120640" cy="4663440"/>
          </a:xfrm>
          <a:prstGeom prst="rect">
            <a:avLst/>
          </a:prstGeom>
          <a:noFill/>
          <a:ln>
            <a:noFill/>
          </a:ln>
        </p:spPr>
        <p:txBody>
          <a:bodyPr anchor="t"/>
          <a:lstStyle/>
          <a:p>
            <a:pPr>
              <a:buNone/>
            </a:pPr>
            <a:r>
              <a:rPr lang="en-US" sz="1600" b="1" dirty="0">
                <a:solidFill>
                  <a:srgbClr val="1F2D54"/>
                </a:solidFill>
              </a:rPr>
              <a:t>What Is Host Header Injection?</a:t>
            </a:r>
          </a:p>
          <a:p>
            <a:pPr marL="342900" indent="-228600">
              <a:buFont typeface="Arial"/>
              <a:buChar char="•"/>
            </a:pPr>
            <a:r>
              <a:rPr lang="en-US" sz="1380" dirty="0">
                <a:solidFill>
                  <a:srgbClr val="222222"/>
                </a:solidFill>
              </a:rPr>
              <a:t>HTTP Host header is mandatory in every HTTP/1.1 request</a:t>
            </a:r>
          </a:p>
          <a:p>
            <a:pPr marL="342900" indent="-228600">
              <a:buFont typeface="Arial"/>
              <a:buChar char="•"/>
            </a:pPr>
            <a:r>
              <a:rPr lang="en-US" sz="1380" dirty="0">
                <a:solidFill>
                  <a:srgbClr val="222222"/>
                </a:solidFill>
              </a:rPr>
              <a:t>Servers use it for routing, URL generation, and access control</a:t>
            </a:r>
          </a:p>
          <a:p>
            <a:pPr marL="342900" indent="-228600">
              <a:buFont typeface="Arial"/>
              <a:buChar char="•"/>
            </a:pPr>
            <a:r>
              <a:rPr lang="en-US" sz="1380" dirty="0">
                <a:solidFill>
                  <a:srgbClr val="222222"/>
                </a:solidFill>
              </a:rPr>
              <a:t>Attacker replaces it with a malicious domain to influence server behavior</a:t>
            </a:r>
          </a:p>
          <a:p>
            <a:pPr marL="342900" indent="-228600">
              <a:buFont typeface="Arial"/>
              <a:buChar char="•"/>
            </a:pPr>
            <a:r>
              <a:rPr lang="en-US" sz="1380" dirty="0">
                <a:solidFill>
                  <a:srgbClr val="222222"/>
                </a:solidFill>
              </a:rPr>
              <a:t>Most dangerous in security-sensitive operations like password reset</a:t>
            </a:r>
          </a:p>
          <a:p>
            <a:pPr>
              <a:buNone/>
            </a:pPr>
            <a:endParaRPr lang="en-US" sz="1380" dirty="0">
              <a:solidFill>
                <a:srgbClr val="222222"/>
              </a:solidFill>
            </a:endParaRPr>
          </a:p>
          <a:p>
            <a:pPr>
              <a:buNone/>
            </a:pPr>
            <a:r>
              <a:rPr lang="en-US" sz="1600" b="1" dirty="0">
                <a:solidFill>
                  <a:srgbClr val="1F2D54"/>
                </a:solidFill>
              </a:rPr>
              <a:t>Key Attack Scenarios</a:t>
            </a:r>
          </a:p>
          <a:p>
            <a:pPr marL="342900" indent="-228600">
              <a:buFont typeface="Arial"/>
              <a:buChar char="•"/>
            </a:pPr>
            <a:r>
              <a:rPr lang="en-US" sz="1380" dirty="0">
                <a:solidFill>
                  <a:srgbClr val="222222"/>
                </a:solidFill>
              </a:rPr>
              <a:t>Password Reset Poisoning — steal reset tokens via email</a:t>
            </a:r>
          </a:p>
          <a:p>
            <a:pPr marL="342900" indent="-228600">
              <a:buFont typeface="Arial"/>
              <a:buChar char="•"/>
            </a:pPr>
            <a:r>
              <a:rPr lang="en-US" sz="1380" dirty="0">
                <a:solidFill>
                  <a:srgbClr val="222222"/>
                </a:solidFill>
              </a:rPr>
              <a:t>Web Cache Poisoning — serve malicious cached content</a:t>
            </a:r>
          </a:p>
          <a:p>
            <a:pPr marL="342900" indent="-228600">
              <a:buFont typeface="Arial"/>
              <a:buChar char="•"/>
            </a:pPr>
            <a:r>
              <a:rPr lang="en-US" sz="1380" dirty="0">
                <a:solidFill>
                  <a:srgbClr val="222222"/>
                </a:solidFill>
              </a:rPr>
              <a:t>Reverse Proxy Confusion — misroute backend requests</a:t>
            </a:r>
          </a:p>
          <a:p>
            <a:pPr marL="342900" indent="-228600">
              <a:buFont typeface="Arial"/>
              <a:buChar char="•"/>
            </a:pPr>
            <a:r>
              <a:rPr lang="en-US" sz="1380" dirty="0">
                <a:solidFill>
                  <a:srgbClr val="222222"/>
                </a:solidFill>
              </a:rPr>
              <a:t>Server-Side Request Forgery (SSRF) — access internal services</a:t>
            </a:r>
          </a:p>
        </p:txBody>
      </p:sp>
      <p:sp>
        <p:nvSpPr>
          <p:cNvPr id="4" name="RightCard"/>
          <p:cNvSpPr/>
          <p:nvPr/>
        </p:nvSpPr>
        <p:spPr>
          <a:xfrm>
            <a:off x="5715000" y="1115568"/>
            <a:ext cx="5120640" cy="4663440"/>
          </a:xfrm>
          <a:prstGeom prst="rect">
            <a:avLst/>
          </a:prstGeom>
          <a:solidFill>
            <a:srgbClr val="1F2D54"/>
          </a:solidFill>
          <a:ln>
            <a:noFill/>
          </a:ln>
        </p:spPr>
        <p:txBody>
          <a:bodyPr/>
          <a:lstStyle/>
          <a:p>
            <a:endParaRPr/>
          </a:p>
        </p:txBody>
      </p:sp>
      <p:sp>
        <p:nvSpPr>
          <p:cNvPr id="5" name="RightTxt"/>
          <p:cNvSpPr/>
          <p:nvPr/>
        </p:nvSpPr>
        <p:spPr>
          <a:xfrm>
            <a:off x="5879592" y="1280160"/>
            <a:ext cx="4791456" cy="4389120"/>
          </a:xfrm>
          <a:prstGeom prst="rect">
            <a:avLst/>
          </a:prstGeom>
          <a:noFill/>
          <a:ln>
            <a:noFill/>
          </a:ln>
        </p:spPr>
        <p:txBody>
          <a:bodyPr anchor="t"/>
          <a:lstStyle/>
          <a:p>
            <a:pPr>
              <a:buNone/>
            </a:pPr>
            <a:r>
              <a:rPr lang="en-US" sz="1500" b="1" dirty="0">
                <a:solidFill>
                  <a:srgbClr val="7EC8E3"/>
                </a:solidFill>
              </a:rPr>
              <a:t>Password Reset Poisoning — Attack Chain</a:t>
            </a:r>
          </a:p>
          <a:p>
            <a:pPr>
              <a:buNone/>
            </a:pPr>
            <a:endParaRPr lang="en-US" sz="1500" b="1" dirty="0">
              <a:solidFill>
                <a:srgbClr val="7EC8E3"/>
              </a:solidFill>
            </a:endParaRPr>
          </a:p>
          <a:p>
            <a:pPr marL="91440" indent="0">
              <a:buNone/>
            </a:pPr>
            <a:r>
              <a:rPr lang="en-US" sz="1300" b="1" dirty="0">
                <a:solidFill>
                  <a:srgbClr val="7EC8E3"/>
                </a:solidFill>
              </a:rPr>
              <a:t>▶ Step 1: </a:t>
            </a:r>
            <a:r>
              <a:rPr lang="en-US" sz="1300" dirty="0">
                <a:solidFill>
                  <a:srgbClr val="FFFFFF"/>
                </a:solidFill>
              </a:rPr>
              <a:t>Victim clicks "Forgot Password" on login page</a:t>
            </a:r>
          </a:p>
          <a:p>
            <a:pPr marL="91440" indent="0">
              <a:buNone/>
            </a:pPr>
            <a:r>
              <a:rPr lang="en-US" sz="1300" b="1" dirty="0">
                <a:solidFill>
                  <a:srgbClr val="7EC8E3"/>
                </a:solidFill>
              </a:rPr>
              <a:t>▶ Step 2: </a:t>
            </a:r>
            <a:r>
              <a:rPr lang="en-US" sz="1300" dirty="0">
                <a:solidFill>
                  <a:srgbClr val="FFFFFF"/>
                </a:solidFill>
              </a:rPr>
              <a:t>Attacker intercepts the request in BurpSuite Proxy</a:t>
            </a:r>
          </a:p>
          <a:p>
            <a:pPr marL="91440" indent="0">
              <a:buNone/>
            </a:pPr>
            <a:r>
              <a:rPr lang="en-US" sz="1300" b="1" dirty="0">
                <a:solidFill>
                  <a:srgbClr val="7EC8E3"/>
                </a:solidFill>
              </a:rPr>
              <a:t>▶ Step 3: </a:t>
            </a:r>
            <a:r>
              <a:rPr lang="en-US" sz="1300" dirty="0">
                <a:solidFill>
                  <a:srgbClr val="FFB3B3"/>
                </a:solidFill>
              </a:rPr>
              <a:t>Host header replaced with attacker-controlled domain</a:t>
            </a:r>
          </a:p>
          <a:p>
            <a:pPr marL="91440" indent="0">
              <a:buNone/>
            </a:pPr>
            <a:r>
              <a:rPr lang="en-US" sz="1300" b="1" dirty="0">
                <a:solidFill>
                  <a:srgbClr val="7EC8E3"/>
                </a:solidFill>
              </a:rPr>
              <a:t>▶ Step 4: </a:t>
            </a:r>
            <a:r>
              <a:rPr lang="en-US" sz="1300" dirty="0">
                <a:solidFill>
                  <a:srgbClr val="FFB3B3"/>
                </a:solidFill>
              </a:rPr>
              <a:t>Application builds reset URL using the injected Host</a:t>
            </a:r>
          </a:p>
          <a:p>
            <a:pPr marL="91440" indent="0">
              <a:buNone/>
            </a:pPr>
            <a:r>
              <a:rPr lang="en-US" sz="1300" b="1" dirty="0">
                <a:solidFill>
                  <a:srgbClr val="7EC8E3"/>
                </a:solidFill>
              </a:rPr>
              <a:t>▶ Step 5: </a:t>
            </a:r>
            <a:r>
              <a:rPr lang="en-US" sz="1300" dirty="0">
                <a:solidFill>
                  <a:srgbClr val="FFB3B3"/>
                </a:solidFill>
              </a:rPr>
              <a:t>Victim receives poisoned reset email with attacker URL</a:t>
            </a:r>
          </a:p>
          <a:p>
            <a:pPr marL="91440" indent="0">
              <a:buNone/>
            </a:pPr>
            <a:r>
              <a:rPr lang="en-US" sz="1300" b="1" dirty="0">
                <a:solidFill>
                  <a:srgbClr val="7EC8E3"/>
                </a:solidFill>
              </a:rPr>
              <a:t>▶ Step 6: </a:t>
            </a:r>
            <a:r>
              <a:rPr lang="en-US" sz="1300" dirty="0">
                <a:solidFill>
                  <a:srgbClr val="FF6666"/>
                </a:solidFill>
              </a:rPr>
              <a:t>Victim clicks link — token delivered to attacker server</a:t>
            </a:r>
          </a:p>
          <a:p>
            <a:pPr marL="91440" indent="0">
              <a:buNone/>
            </a:pPr>
            <a:r>
              <a:rPr lang="en-US" sz="1300" b="1" dirty="0">
                <a:solidFill>
                  <a:srgbClr val="7EC8E3"/>
                </a:solidFill>
              </a:rPr>
              <a:t>▶ Step 7: </a:t>
            </a:r>
            <a:r>
              <a:rPr lang="en-US" sz="1300" dirty="0">
                <a:solidFill>
                  <a:srgbClr val="FF6666"/>
                </a:solidFill>
              </a:rPr>
              <a:t>Attacker resets password — full account takeover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Tools &amp; Environment Setup</a:t>
            </a:r>
          </a:p>
        </p:txBody>
      </p:sp>
      <p:sp>
        <p:nvSpPr>
          <p:cNvPr id="10" name="TCard0"/>
          <p:cNvSpPr/>
          <p:nvPr/>
        </p:nvSpPr>
        <p:spPr>
          <a:xfrm>
            <a:off x="320040" y="1115568"/>
            <a:ext cx="3364992" cy="1463040"/>
          </a:xfrm>
          <a:prstGeom prst="rect">
            <a:avLst/>
          </a:prstGeom>
          <a:solidFill>
            <a:srgbClr val="1F2D54"/>
          </a:solidFill>
          <a:ln>
            <a:noFill/>
          </a:ln>
        </p:spPr>
        <p:txBody>
          <a:bodyPr/>
          <a:lstStyle/>
          <a:p>
            <a:endParaRPr/>
          </a:p>
        </p:txBody>
      </p:sp>
      <p:sp>
        <p:nvSpPr>
          <p:cNvPr id="11" name="TTxt0"/>
          <p:cNvSpPr/>
          <p:nvPr/>
        </p:nvSpPr>
        <p:spPr>
          <a:xfrm>
            <a:off x="457200" y="1243584"/>
            <a:ext cx="3090672" cy="1280160"/>
          </a:xfrm>
          <a:prstGeom prst="rect">
            <a:avLst/>
          </a:prstGeom>
          <a:noFill/>
          <a:ln>
            <a:noFill/>
          </a:ln>
        </p:spPr>
        <p:txBody>
          <a:bodyPr anchor="t"/>
          <a:lstStyle/>
          <a:p>
            <a:pPr>
              <a:buNone/>
            </a:pPr>
            <a:r>
              <a:rPr lang="en-US" sz="1450" b="1" dirty="0">
                <a:solidFill>
                  <a:srgbClr val="FFFFFF"/>
                </a:solidFill>
              </a:rPr>
              <a:t>BurpSuite Community Edition</a:t>
            </a:r>
          </a:p>
          <a:p>
            <a:pPr>
              <a:buNone/>
            </a:pPr>
            <a:endParaRPr lang="en-US" sz="1450" b="1" dirty="0">
              <a:solidFill>
                <a:srgbClr val="FFFFFF"/>
              </a:solidFill>
            </a:endParaRPr>
          </a:p>
          <a:p>
            <a:pPr>
              <a:buNone/>
            </a:pPr>
            <a:r>
              <a:rPr lang="en-US" sz="1220" dirty="0">
                <a:solidFill>
                  <a:srgbClr val="D5E8F8"/>
                </a:solidFill>
              </a:rPr>
              <a:t>Primary man-in-the-middle proxy for intercepting, inspecting, and modifying HTTP/S traffic in real time.</a:t>
            </a:r>
          </a:p>
        </p:txBody>
      </p:sp>
      <p:sp>
        <p:nvSpPr>
          <p:cNvPr id="13" name="TCard1"/>
          <p:cNvSpPr/>
          <p:nvPr/>
        </p:nvSpPr>
        <p:spPr>
          <a:xfrm>
            <a:off x="3895344" y="1115568"/>
            <a:ext cx="3364992" cy="1463040"/>
          </a:xfrm>
          <a:prstGeom prst="rect">
            <a:avLst/>
          </a:prstGeom>
          <a:solidFill>
            <a:srgbClr val="2E6DA4"/>
          </a:solidFill>
          <a:ln>
            <a:noFill/>
          </a:ln>
        </p:spPr>
        <p:txBody>
          <a:bodyPr/>
          <a:lstStyle/>
          <a:p>
            <a:endParaRPr/>
          </a:p>
        </p:txBody>
      </p:sp>
      <p:sp>
        <p:nvSpPr>
          <p:cNvPr id="14" name="TTxt1"/>
          <p:cNvSpPr/>
          <p:nvPr/>
        </p:nvSpPr>
        <p:spPr>
          <a:xfrm>
            <a:off x="4032504" y="1243584"/>
            <a:ext cx="3090672" cy="1280160"/>
          </a:xfrm>
          <a:prstGeom prst="rect">
            <a:avLst/>
          </a:prstGeom>
          <a:noFill/>
          <a:ln>
            <a:noFill/>
          </a:ln>
        </p:spPr>
        <p:txBody>
          <a:bodyPr anchor="t"/>
          <a:lstStyle/>
          <a:p>
            <a:pPr>
              <a:buNone/>
            </a:pPr>
            <a:r>
              <a:rPr lang="en-US" sz="1450" b="1" dirty="0">
                <a:solidFill>
                  <a:srgbClr val="FFFFFF"/>
                </a:solidFill>
              </a:rPr>
              <a:t>BurpSuite Proxy Module</a:t>
            </a:r>
          </a:p>
          <a:p>
            <a:pPr>
              <a:buNone/>
            </a:pPr>
            <a:endParaRPr lang="en-US" sz="1450" b="1" dirty="0">
              <a:solidFill>
                <a:srgbClr val="FFFFFF"/>
              </a:solidFill>
            </a:endParaRPr>
          </a:p>
          <a:p>
            <a:pPr>
              <a:buNone/>
            </a:pPr>
            <a:r>
              <a:rPr lang="en-US" sz="1220" dirty="0">
                <a:solidFill>
                  <a:srgbClr val="D5E8F8"/>
                </a:solidFill>
              </a:rPr>
              <a:t>Captures all browser traffic via 127.0.0.1:8080, enabling live inspection and modification of requests/responses.</a:t>
            </a:r>
          </a:p>
        </p:txBody>
      </p:sp>
      <p:sp>
        <p:nvSpPr>
          <p:cNvPr id="16" name="TCard2"/>
          <p:cNvSpPr/>
          <p:nvPr/>
        </p:nvSpPr>
        <p:spPr>
          <a:xfrm>
            <a:off x="7470648" y="1115568"/>
            <a:ext cx="3364992" cy="1463040"/>
          </a:xfrm>
          <a:prstGeom prst="rect">
            <a:avLst/>
          </a:prstGeom>
          <a:solidFill>
            <a:srgbClr val="1F2D54"/>
          </a:solidFill>
          <a:ln>
            <a:noFill/>
          </a:ln>
        </p:spPr>
        <p:txBody>
          <a:bodyPr/>
          <a:lstStyle/>
          <a:p>
            <a:endParaRPr/>
          </a:p>
        </p:txBody>
      </p:sp>
      <p:sp>
        <p:nvSpPr>
          <p:cNvPr id="17" name="TTxt2"/>
          <p:cNvSpPr/>
          <p:nvPr/>
        </p:nvSpPr>
        <p:spPr>
          <a:xfrm>
            <a:off x="7607808" y="1243584"/>
            <a:ext cx="3090672" cy="1280160"/>
          </a:xfrm>
          <a:prstGeom prst="rect">
            <a:avLst/>
          </a:prstGeom>
          <a:noFill/>
          <a:ln>
            <a:noFill/>
          </a:ln>
        </p:spPr>
        <p:txBody>
          <a:bodyPr anchor="t"/>
          <a:lstStyle/>
          <a:p>
            <a:pPr>
              <a:buNone/>
            </a:pPr>
            <a:r>
              <a:rPr lang="en-US" sz="1450" b="1" dirty="0">
                <a:solidFill>
                  <a:srgbClr val="FFFFFF"/>
                </a:solidFill>
              </a:rPr>
              <a:t>BurpSuite Repeater Module</a:t>
            </a:r>
          </a:p>
          <a:p>
            <a:pPr>
              <a:buNone/>
            </a:pPr>
            <a:endParaRPr lang="en-US" sz="1450" b="1" dirty="0">
              <a:solidFill>
                <a:srgbClr val="FFFFFF"/>
              </a:solidFill>
            </a:endParaRPr>
          </a:p>
          <a:p>
            <a:pPr>
              <a:buNone/>
            </a:pPr>
            <a:r>
              <a:rPr lang="en-US" sz="1220" dirty="0">
                <a:solidFill>
                  <a:srgbClr val="D5E8F8"/>
                </a:solidFill>
              </a:rPr>
              <a:t>Allows manual modification and repeated re-sending of captured HTTP requests — used for all payload injection tests.</a:t>
            </a:r>
          </a:p>
        </p:txBody>
      </p:sp>
      <p:sp>
        <p:nvSpPr>
          <p:cNvPr id="19" name="TCard3"/>
          <p:cNvSpPr/>
          <p:nvPr/>
        </p:nvSpPr>
        <p:spPr>
          <a:xfrm>
            <a:off x="320040" y="2779776"/>
            <a:ext cx="3364992" cy="1463040"/>
          </a:xfrm>
          <a:prstGeom prst="rect">
            <a:avLst/>
          </a:prstGeom>
          <a:solidFill>
            <a:srgbClr val="C0392B"/>
          </a:solidFill>
          <a:ln>
            <a:noFill/>
          </a:ln>
        </p:spPr>
        <p:txBody>
          <a:bodyPr/>
          <a:lstStyle/>
          <a:p>
            <a:endParaRPr/>
          </a:p>
        </p:txBody>
      </p:sp>
      <p:sp>
        <p:nvSpPr>
          <p:cNvPr id="20" name="TTxt3"/>
          <p:cNvSpPr/>
          <p:nvPr/>
        </p:nvSpPr>
        <p:spPr>
          <a:xfrm>
            <a:off x="457200" y="2907792"/>
            <a:ext cx="3090672" cy="1280160"/>
          </a:xfrm>
          <a:prstGeom prst="rect">
            <a:avLst/>
          </a:prstGeom>
          <a:noFill/>
          <a:ln>
            <a:noFill/>
          </a:ln>
        </p:spPr>
        <p:txBody>
          <a:bodyPr anchor="t"/>
          <a:lstStyle/>
          <a:p>
            <a:pPr>
              <a:buNone/>
            </a:pPr>
            <a:r>
              <a:rPr lang="en-US" sz="1450" b="1" dirty="0">
                <a:solidFill>
                  <a:srgbClr val="FFFFFF"/>
                </a:solidFill>
              </a:rPr>
              <a:t>PortSwigger Web Security Academy</a:t>
            </a:r>
          </a:p>
          <a:p>
            <a:pPr>
              <a:buNone/>
            </a:pPr>
            <a:endParaRPr lang="en-US" sz="1450" b="1" dirty="0">
              <a:solidFill>
                <a:srgbClr val="FFFFFF"/>
              </a:solidFill>
            </a:endParaRPr>
          </a:p>
          <a:p>
            <a:pPr>
              <a:buNone/>
            </a:pPr>
            <a:r>
              <a:rPr lang="en-US" sz="1220" dirty="0">
                <a:solidFill>
                  <a:srgbClr val="D5E8F8"/>
                </a:solidFill>
              </a:rPr>
              <a:t>Provides intentionally vulnerable lab environments for realistic, legal penetration testing practice with real CVE scenarios.</a:t>
            </a:r>
          </a:p>
        </p:txBody>
      </p:sp>
      <p:sp>
        <p:nvSpPr>
          <p:cNvPr id="22" name="TCard4"/>
          <p:cNvSpPr/>
          <p:nvPr/>
        </p:nvSpPr>
        <p:spPr>
          <a:xfrm>
            <a:off x="3895344" y="2779776"/>
            <a:ext cx="3364992" cy="1463040"/>
          </a:xfrm>
          <a:prstGeom prst="rect">
            <a:avLst/>
          </a:prstGeom>
          <a:solidFill>
            <a:srgbClr val="2E6DA4"/>
          </a:solidFill>
          <a:ln>
            <a:noFill/>
          </a:ln>
        </p:spPr>
        <p:txBody>
          <a:bodyPr/>
          <a:lstStyle/>
          <a:p>
            <a:endParaRPr/>
          </a:p>
        </p:txBody>
      </p:sp>
      <p:sp>
        <p:nvSpPr>
          <p:cNvPr id="23" name="TTxt4"/>
          <p:cNvSpPr/>
          <p:nvPr/>
        </p:nvSpPr>
        <p:spPr>
          <a:xfrm>
            <a:off x="4032504" y="2907792"/>
            <a:ext cx="3090672" cy="1280160"/>
          </a:xfrm>
          <a:prstGeom prst="rect">
            <a:avLst/>
          </a:prstGeom>
          <a:noFill/>
          <a:ln>
            <a:noFill/>
          </a:ln>
        </p:spPr>
        <p:txBody>
          <a:bodyPr anchor="t"/>
          <a:lstStyle/>
          <a:p>
            <a:pPr>
              <a:buNone/>
            </a:pPr>
            <a:r>
              <a:rPr lang="en-US" sz="1450" b="1" dirty="0">
                <a:solidFill>
                  <a:srgbClr val="FFFFFF"/>
                </a:solidFill>
              </a:rPr>
              <a:t>Exploit Server (PortSwigger)</a:t>
            </a:r>
          </a:p>
          <a:p>
            <a:pPr>
              <a:buNone/>
            </a:pPr>
            <a:endParaRPr lang="en-US" sz="1450" b="1" dirty="0">
              <a:solidFill>
                <a:srgbClr val="FFFFFF"/>
              </a:solidFill>
            </a:endParaRPr>
          </a:p>
          <a:p>
            <a:pPr>
              <a:buNone/>
            </a:pPr>
            <a:r>
              <a:rPr lang="en-US" sz="1220" dirty="0">
                <a:solidFill>
                  <a:srgbClr val="D5E8F8"/>
                </a:solidFill>
              </a:rPr>
              <a:t>Attacker-controlled domain and server used to simulate Host header poisoning — logs incoming requests with tokens.</a:t>
            </a:r>
          </a:p>
        </p:txBody>
      </p:sp>
      <p:sp>
        <p:nvSpPr>
          <p:cNvPr id="25" name="TCard5"/>
          <p:cNvSpPr/>
          <p:nvPr/>
        </p:nvSpPr>
        <p:spPr>
          <a:xfrm>
            <a:off x="7470648" y="2779776"/>
            <a:ext cx="3364992" cy="1463040"/>
          </a:xfrm>
          <a:prstGeom prst="rect">
            <a:avLst/>
          </a:prstGeom>
          <a:solidFill>
            <a:srgbClr val="1F2D54"/>
          </a:solidFill>
          <a:ln>
            <a:noFill/>
          </a:ln>
        </p:spPr>
        <p:txBody>
          <a:bodyPr/>
          <a:lstStyle/>
          <a:p>
            <a:endParaRPr/>
          </a:p>
        </p:txBody>
      </p:sp>
      <p:sp>
        <p:nvSpPr>
          <p:cNvPr id="26" name="TTxt5"/>
          <p:cNvSpPr/>
          <p:nvPr/>
        </p:nvSpPr>
        <p:spPr>
          <a:xfrm>
            <a:off x="7607808" y="2907792"/>
            <a:ext cx="3090672" cy="1280160"/>
          </a:xfrm>
          <a:prstGeom prst="rect">
            <a:avLst/>
          </a:prstGeom>
          <a:noFill/>
          <a:ln>
            <a:noFill/>
          </a:ln>
        </p:spPr>
        <p:txBody>
          <a:bodyPr anchor="t"/>
          <a:lstStyle/>
          <a:p>
            <a:pPr>
              <a:buNone/>
            </a:pPr>
            <a:r>
              <a:rPr lang="en-US" sz="1450" b="1" dirty="0">
                <a:solidFill>
                  <a:srgbClr val="FFFFFF"/>
                </a:solidFill>
              </a:rPr>
              <a:t>Burp Chromium Browser</a:t>
            </a:r>
          </a:p>
          <a:p>
            <a:pPr>
              <a:buNone/>
            </a:pPr>
            <a:endParaRPr lang="en-US" sz="1450" b="1" dirty="0">
              <a:solidFill>
                <a:srgbClr val="FFFFFF"/>
              </a:solidFill>
            </a:endParaRPr>
          </a:p>
          <a:p>
            <a:pPr>
              <a:buNone/>
            </a:pPr>
            <a:r>
              <a:rPr lang="en-US" sz="1220" dirty="0">
                <a:solidFill>
                  <a:srgbClr val="D5E8F8"/>
                </a:solidFill>
              </a:rPr>
              <a:t>Pre-configured browser with automatic proxy routing through BurpSuite — no manual proxy setup required.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1 — BurpSuite Configuration &amp; Proxy Setup</a:t>
            </a:r>
          </a:p>
        </p:txBody>
      </p:sp>
      <p:pic>
        <p:nvPicPr>
          <p:cNvPr id="3" name="DashImg"/>
          <p:cNvPicPr>
            <a:picLocks noChangeAspect="1"/>
          </p:cNvPicPr>
          <p:nvPr/>
        </p:nvPicPr>
        <p:blipFill>
          <a:blip r:embed="rId2"/>
          <a:stretch>
            <a:fillRect/>
          </a:stretch>
        </p:blipFill>
        <p:spPr>
          <a:xfrm>
            <a:off x="320040" y="1115568"/>
            <a:ext cx="5120640" cy="3017520"/>
          </a:xfrm>
          <a:prstGeom prst="rect">
            <a:avLst/>
          </a:prstGeom>
        </p:spPr>
      </p:pic>
      <p:sp>
        <p:nvSpPr>
          <p:cNvPr id="4" name="DashCap"/>
          <p:cNvSpPr/>
          <p:nvPr/>
        </p:nvSpPr>
        <p:spPr>
          <a:xfrm>
            <a:off x="320040" y="4169664"/>
            <a:ext cx="5120640" cy="256032"/>
          </a:xfrm>
          <a:prstGeom prst="rect">
            <a:avLst/>
          </a:prstGeom>
          <a:noFill/>
          <a:ln>
            <a:noFill/>
          </a:ln>
        </p:spPr>
        <p:txBody>
          <a:bodyPr anchor="t"/>
          <a:lstStyle/>
          <a:p>
            <a:pPr algn="l">
              <a:buNone/>
            </a:pPr>
            <a:r>
              <a:rPr lang="en-US" sz="1050" i="1" dirty="0">
                <a:solidFill>
                  <a:srgbClr val="444444"/>
                </a:solidFill>
              </a:rPr>
              <a:t>Figure 1: BurpSuite Community Edition — Dashboard showing proxy listener active on 127.0.0.1:8080</a:t>
            </a:r>
          </a:p>
        </p:txBody>
      </p:sp>
      <p:sp>
        <p:nvSpPr>
          <p:cNvPr id="5" name="DashDesc"/>
          <p:cNvSpPr/>
          <p:nvPr/>
        </p:nvSpPr>
        <p:spPr>
          <a:xfrm>
            <a:off x="320040" y="4462272"/>
            <a:ext cx="5120640" cy="1371600"/>
          </a:xfrm>
          <a:prstGeom prst="rect">
            <a:avLst/>
          </a:prstGeom>
          <a:noFill/>
          <a:ln>
            <a:noFill/>
          </a:ln>
        </p:spPr>
        <p:txBody>
          <a:bodyPr anchor="t"/>
          <a:lstStyle/>
          <a:p>
            <a:pPr>
              <a:buNone/>
            </a:pPr>
            <a:r>
              <a:rPr lang="en-US" sz="1300" b="1" dirty="0">
                <a:solidFill>
                  <a:srgbClr val="1F2D54"/>
                </a:solidFill>
              </a:rPr>
              <a:t>Dashboard Overview:</a:t>
            </a:r>
          </a:p>
          <a:p>
            <a:pPr marL="342900" indent="-228600">
              <a:buFont typeface="Arial"/>
              <a:buChar char="•"/>
            </a:pPr>
            <a:r>
              <a:rPr lang="en-US" sz="1250" dirty="0">
                <a:solidFill>
                  <a:srgbClr val="333333"/>
                </a:solidFill>
              </a:rPr>
              <a:t>Proxy tab confirms listener running on port 8080</a:t>
            </a:r>
          </a:p>
          <a:p>
            <a:pPr marL="342900" indent="-228600">
              <a:buFont typeface="Arial"/>
              <a:buChar char="•"/>
            </a:pPr>
            <a:r>
              <a:rPr lang="en-US" sz="1250" dirty="0">
                <a:solidFill>
                  <a:srgbClr val="333333"/>
                </a:solidFill>
              </a:rPr>
              <a:t>Intercept set to ON to capture all outgoing browser requests</a:t>
            </a:r>
          </a:p>
          <a:p>
            <a:pPr marL="342900" indent="-228600">
              <a:buFont typeface="Arial"/>
              <a:buChar char="•"/>
            </a:pPr>
            <a:r>
              <a:rPr lang="en-US" sz="1250" dirty="0">
                <a:solidFill>
                  <a:srgbClr val="333333"/>
                </a:solidFill>
              </a:rPr>
              <a:t>HTTP History tab records every captured request/response pair</a:t>
            </a:r>
          </a:p>
        </p:txBody>
      </p:sp>
      <p:pic>
        <p:nvPicPr>
          <p:cNvPr id="6" name="ProxyImg"/>
          <p:cNvPicPr>
            <a:picLocks noChangeAspect="1"/>
          </p:cNvPicPr>
          <p:nvPr/>
        </p:nvPicPr>
        <p:blipFill>
          <a:blip r:embed="rId3"/>
          <a:stretch>
            <a:fillRect/>
          </a:stretch>
        </p:blipFill>
        <p:spPr>
          <a:xfrm>
            <a:off x="5715000" y="1115568"/>
            <a:ext cx="5120640" cy="3017520"/>
          </a:xfrm>
          <a:prstGeom prst="rect">
            <a:avLst/>
          </a:prstGeom>
        </p:spPr>
      </p:pic>
      <p:sp>
        <p:nvSpPr>
          <p:cNvPr id="7" name="ProxyCap"/>
          <p:cNvSpPr/>
          <p:nvPr/>
        </p:nvSpPr>
        <p:spPr>
          <a:xfrm>
            <a:off x="5715000" y="4169664"/>
            <a:ext cx="5120640" cy="256032"/>
          </a:xfrm>
          <a:prstGeom prst="rect">
            <a:avLst/>
          </a:prstGeom>
          <a:noFill/>
          <a:ln>
            <a:noFill/>
          </a:ln>
        </p:spPr>
        <p:txBody>
          <a:bodyPr anchor="t"/>
          <a:lstStyle/>
          <a:p>
            <a:pPr algn="l">
              <a:buNone/>
            </a:pPr>
            <a:r>
              <a:rPr lang="en-US" sz="1050" i="1" dirty="0">
                <a:solidFill>
                  <a:srgbClr val="444444"/>
                </a:solidFill>
              </a:rPr>
              <a:t>Figure 2: Proxy Listener Settings — Port 8080, loopback interface, all interfaces option enabled</a:t>
            </a:r>
          </a:p>
        </p:txBody>
      </p:sp>
      <p:sp>
        <p:nvSpPr>
          <p:cNvPr id="8" name="ProxyDesc"/>
          <p:cNvSpPr/>
          <p:nvPr/>
        </p:nvSpPr>
        <p:spPr>
          <a:xfrm>
            <a:off x="5715000" y="4462272"/>
            <a:ext cx="5120640" cy="1371600"/>
          </a:xfrm>
          <a:prstGeom prst="rect">
            <a:avLst/>
          </a:prstGeom>
          <a:noFill/>
          <a:ln>
            <a:noFill/>
          </a:ln>
        </p:spPr>
        <p:txBody>
          <a:bodyPr anchor="t"/>
          <a:lstStyle/>
          <a:p>
            <a:pPr>
              <a:buNone/>
            </a:pPr>
            <a:r>
              <a:rPr lang="en-US" sz="1300" b="1" dirty="0">
                <a:solidFill>
                  <a:srgbClr val="1F2D54"/>
                </a:solidFill>
              </a:rPr>
              <a:t>Proxy Listener Configuration:</a:t>
            </a:r>
          </a:p>
          <a:p>
            <a:pPr marL="342900" indent="-228600">
              <a:buFont typeface="Arial"/>
              <a:buChar char="•"/>
            </a:pPr>
            <a:r>
              <a:rPr lang="en-US" sz="1250" dirty="0">
                <a:solidFill>
                  <a:srgbClr val="333333"/>
                </a:solidFill>
              </a:rPr>
              <a:t>Listener bound to 127.0.0.1:8080 for local traffic capture</a:t>
            </a:r>
          </a:p>
          <a:p>
            <a:pPr marL="342900" indent="-228600">
              <a:buFont typeface="Arial"/>
              <a:buChar char="•"/>
            </a:pPr>
            <a:r>
              <a:rPr lang="en-US" sz="1250" dirty="0">
                <a:solidFill>
                  <a:srgbClr val="333333"/>
                </a:solidFill>
              </a:rPr>
              <a:t>Certificate trusted by Burp Chromium Browser automatically</a:t>
            </a:r>
          </a:p>
          <a:p>
            <a:pPr marL="342900" indent="-228600">
              <a:buFont typeface="Arial"/>
              <a:buChar char="•"/>
            </a:pPr>
            <a:r>
              <a:rPr lang="en-US" sz="1250" dirty="0">
                <a:solidFill>
                  <a:srgbClr val="333333"/>
                </a:solidFill>
              </a:rPr>
              <a:t>HTTPS traffic decrypted and inspectable in plaintext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1 — Accessing Host Header Injection Labs</a:t>
            </a:r>
          </a:p>
        </p:txBody>
      </p:sp>
      <p:pic>
        <p:nvPicPr>
          <p:cNvPr id="3" name="LabsImg"/>
          <p:cNvPicPr>
            <a:picLocks noChangeAspect="1"/>
          </p:cNvPicPr>
          <p:nvPr/>
        </p:nvPicPr>
        <p:blipFill>
          <a:blip r:embed="rId2"/>
          <a:stretch>
            <a:fillRect/>
          </a:stretch>
        </p:blipFill>
        <p:spPr>
          <a:xfrm>
            <a:off x="320040" y="1115568"/>
            <a:ext cx="5120640" cy="3017520"/>
          </a:xfrm>
          <a:prstGeom prst="rect">
            <a:avLst/>
          </a:prstGeom>
        </p:spPr>
      </p:pic>
      <p:sp>
        <p:nvSpPr>
          <p:cNvPr id="4" name="LabsCap"/>
          <p:cNvSpPr/>
          <p:nvPr/>
        </p:nvSpPr>
        <p:spPr>
          <a:xfrm>
            <a:off x="320040" y="4169664"/>
            <a:ext cx="5120640" cy="256032"/>
          </a:xfrm>
          <a:prstGeom prst="rect">
            <a:avLst/>
          </a:prstGeom>
          <a:noFill/>
          <a:ln>
            <a:noFill/>
          </a:ln>
        </p:spPr>
        <p:txBody>
          <a:bodyPr anchor="t"/>
          <a:lstStyle/>
          <a:p>
            <a:pPr algn="l">
              <a:buNone/>
            </a:pPr>
            <a:r>
              <a:rPr lang="en-US" sz="1050" i="1" dirty="0">
                <a:solidFill>
                  <a:srgbClr val="444444"/>
                </a:solidFill>
              </a:rPr>
              <a:t>Figure 3: PortSwigger Web Security Academy — Host Header Injection lab category listing</a:t>
            </a:r>
          </a:p>
        </p:txBody>
      </p:sp>
      <p:sp>
        <p:nvSpPr>
          <p:cNvPr id="5" name="LabsDesc"/>
          <p:cNvSpPr/>
          <p:nvPr/>
        </p:nvSpPr>
        <p:spPr>
          <a:xfrm>
            <a:off x="320040" y="4462272"/>
            <a:ext cx="5120640" cy="1371600"/>
          </a:xfrm>
          <a:prstGeom prst="rect">
            <a:avLst/>
          </a:prstGeom>
          <a:noFill/>
          <a:ln>
            <a:noFill/>
          </a:ln>
        </p:spPr>
        <p:txBody>
          <a:bodyPr anchor="t"/>
          <a:lstStyle/>
          <a:p>
            <a:pPr>
              <a:buNone/>
            </a:pPr>
            <a:r>
              <a:rPr lang="en-US" sz="1300" b="1" dirty="0">
                <a:solidFill>
                  <a:srgbClr val="1F2D54"/>
                </a:solidFill>
              </a:rPr>
              <a:t>Lab Environment:</a:t>
            </a:r>
          </a:p>
          <a:p>
            <a:pPr marL="342900" indent="-228600">
              <a:buFont typeface="Arial"/>
              <a:buChar char="•"/>
            </a:pPr>
            <a:r>
              <a:rPr lang="en-US" sz="1250" dirty="0">
                <a:solidFill>
                  <a:srgbClr val="333333"/>
                </a:solidFill>
              </a:rPr>
              <a:t>PortSwigger Academy provides intentionally vulnerable labs</a:t>
            </a:r>
          </a:p>
          <a:p>
            <a:pPr marL="342900" indent="-228600">
              <a:buFont typeface="Arial"/>
              <a:buChar char="•"/>
            </a:pPr>
            <a:r>
              <a:rPr lang="en-US" sz="1250" dirty="0">
                <a:solidFill>
                  <a:srgbClr val="333333"/>
                </a:solidFill>
              </a:rPr>
              <a:t>Host Header Injection section lists multiple exploitable scenarios</a:t>
            </a:r>
          </a:p>
          <a:p>
            <a:pPr marL="342900" indent="-228600">
              <a:buFont typeface="Arial"/>
              <a:buChar char="•"/>
            </a:pPr>
            <a:r>
              <a:rPr lang="en-US" sz="1250" dirty="0">
                <a:solidFill>
                  <a:srgbClr val="333333"/>
                </a:solidFill>
              </a:rPr>
              <a:t>Labs include: password reset poisoning, cache poisoning, SSRF</a:t>
            </a:r>
          </a:p>
        </p:txBody>
      </p:sp>
      <p:pic>
        <p:nvPicPr>
          <p:cNvPr id="6" name="LabOpenImg"/>
          <p:cNvPicPr>
            <a:picLocks noChangeAspect="1"/>
          </p:cNvPicPr>
          <p:nvPr/>
        </p:nvPicPr>
        <p:blipFill>
          <a:blip r:embed="rId3"/>
          <a:stretch>
            <a:fillRect/>
          </a:stretch>
        </p:blipFill>
        <p:spPr>
          <a:xfrm>
            <a:off x="5715000" y="1115568"/>
            <a:ext cx="5120640" cy="3017520"/>
          </a:xfrm>
          <a:prstGeom prst="rect">
            <a:avLst/>
          </a:prstGeom>
        </p:spPr>
      </p:pic>
      <p:sp>
        <p:nvSpPr>
          <p:cNvPr id="7" name="LabOpenCap"/>
          <p:cNvSpPr/>
          <p:nvPr/>
        </p:nvSpPr>
        <p:spPr>
          <a:xfrm>
            <a:off x="5715000" y="4169664"/>
            <a:ext cx="5120640" cy="256032"/>
          </a:xfrm>
          <a:prstGeom prst="rect">
            <a:avLst/>
          </a:prstGeom>
          <a:noFill/>
          <a:ln>
            <a:noFill/>
          </a:ln>
        </p:spPr>
        <p:txBody>
          <a:bodyPr anchor="t"/>
          <a:lstStyle/>
          <a:p>
            <a:pPr algn="l">
              <a:buNone/>
            </a:pPr>
            <a:r>
              <a:rPr lang="en-US" sz="1050" i="1" dirty="0">
                <a:solidFill>
                  <a:srgbClr val="444444"/>
                </a:solidFill>
              </a:rPr>
              <a:t>Figure 4: Basic Password Reset Poisoning Lab — APPRENTICE level, target application loaded</a:t>
            </a:r>
          </a:p>
        </p:txBody>
      </p:sp>
      <p:sp>
        <p:nvSpPr>
          <p:cNvPr id="8" name="LabOpenDesc"/>
          <p:cNvSpPr/>
          <p:nvPr/>
        </p:nvSpPr>
        <p:spPr>
          <a:xfrm>
            <a:off x="5715000" y="4462272"/>
            <a:ext cx="5120640" cy="1371600"/>
          </a:xfrm>
          <a:prstGeom prst="rect">
            <a:avLst/>
          </a:prstGeom>
          <a:noFill/>
          <a:ln>
            <a:noFill/>
          </a:ln>
        </p:spPr>
        <p:txBody>
          <a:bodyPr anchor="t"/>
          <a:lstStyle/>
          <a:p>
            <a:pPr>
              <a:buNone/>
            </a:pPr>
            <a:r>
              <a:rPr lang="en-US" sz="1300" b="1" dirty="0">
                <a:solidFill>
                  <a:srgbClr val="1F2D54"/>
                </a:solidFill>
              </a:rPr>
              <a:t>Target Lab Details:</a:t>
            </a:r>
          </a:p>
          <a:p>
            <a:pPr marL="342900" indent="-228600">
              <a:buFont typeface="Arial"/>
              <a:buChar char="•"/>
            </a:pPr>
            <a:r>
              <a:rPr lang="en-US" sz="1250" dirty="0">
                <a:solidFill>
                  <a:srgbClr val="333333"/>
                </a:solidFill>
              </a:rPr>
              <a:t>Lab: Basic password reset poisoning (APPRENTICE level)</a:t>
            </a:r>
          </a:p>
          <a:p>
            <a:pPr marL="342900" indent="-228600">
              <a:buFont typeface="Arial"/>
              <a:buChar char="•"/>
            </a:pPr>
            <a:r>
              <a:rPr lang="en-US" sz="1250" dirty="0">
                <a:solidFill>
                  <a:srgbClr val="333333"/>
                </a:solidFill>
              </a:rPr>
              <a:t>Victim user: carlos — clicks any link received by email</a:t>
            </a:r>
          </a:p>
          <a:p>
            <a:pPr marL="342900" indent="-228600">
              <a:buFont typeface="Arial"/>
              <a:buChar char="•"/>
            </a:pPr>
            <a:r>
              <a:rPr lang="en-US" sz="1250" dirty="0">
                <a:solidFill>
                  <a:srgbClr val="333333"/>
                </a:solidFill>
              </a:rPr>
              <a:t>Exploit server available to capture poisoned requests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2 — Traffic Interception &amp; Request Capture</a:t>
            </a:r>
          </a:p>
        </p:txBody>
      </p:sp>
      <p:pic>
        <p:nvPicPr>
          <p:cNvPr id="3" name="IntImg"/>
          <p:cNvPicPr>
            <a:picLocks noChangeAspect="1"/>
          </p:cNvPicPr>
          <p:nvPr/>
        </p:nvPicPr>
        <p:blipFill>
          <a:blip r:embed="rId2"/>
          <a:stretch>
            <a:fillRect/>
          </a:stretch>
        </p:blipFill>
        <p:spPr>
          <a:xfrm>
            <a:off x="320040" y="1115568"/>
            <a:ext cx="5120640" cy="3017520"/>
          </a:xfrm>
          <a:prstGeom prst="rect">
            <a:avLst/>
          </a:prstGeom>
        </p:spPr>
      </p:pic>
      <p:sp>
        <p:nvSpPr>
          <p:cNvPr id="4" name="IntCap"/>
          <p:cNvSpPr/>
          <p:nvPr/>
        </p:nvSpPr>
        <p:spPr>
          <a:xfrm>
            <a:off x="320040" y="4169664"/>
            <a:ext cx="5120640" cy="256032"/>
          </a:xfrm>
          <a:prstGeom prst="rect">
            <a:avLst/>
          </a:prstGeom>
          <a:noFill/>
          <a:ln>
            <a:noFill/>
          </a:ln>
        </p:spPr>
        <p:txBody>
          <a:bodyPr anchor="t"/>
          <a:lstStyle/>
          <a:p>
            <a:pPr algn="l">
              <a:buNone/>
            </a:pPr>
            <a:r>
              <a:rPr lang="en-US" sz="1050" i="1" dirty="0">
                <a:solidFill>
                  <a:srgbClr val="444444"/>
                </a:solidFill>
              </a:rPr>
              <a:t>Figure 5: Intercept ON — BurpSuite capturing live POST /forgot-password request mid-flight</a:t>
            </a:r>
          </a:p>
        </p:txBody>
      </p:sp>
      <p:sp>
        <p:nvSpPr>
          <p:cNvPr id="5" name="IntDesc"/>
          <p:cNvSpPr/>
          <p:nvPr/>
        </p:nvSpPr>
        <p:spPr>
          <a:xfrm>
            <a:off x="320040" y="4462272"/>
            <a:ext cx="5120640" cy="1371600"/>
          </a:xfrm>
          <a:prstGeom prst="rect">
            <a:avLst/>
          </a:prstGeom>
          <a:noFill/>
          <a:ln>
            <a:noFill/>
          </a:ln>
        </p:spPr>
        <p:txBody>
          <a:bodyPr anchor="t"/>
          <a:lstStyle/>
          <a:p>
            <a:pPr>
              <a:buNone/>
            </a:pPr>
            <a:r>
              <a:rPr lang="en-US" sz="1300" b="1" dirty="0">
                <a:solidFill>
                  <a:srgbClr val="1F2D54"/>
                </a:solidFill>
              </a:rPr>
              <a:t>Interception Step:</a:t>
            </a:r>
          </a:p>
          <a:p>
            <a:pPr marL="342900" indent="-228600">
              <a:buFont typeface="Arial"/>
              <a:buChar char="•"/>
            </a:pPr>
            <a:r>
              <a:rPr lang="en-US" sz="1250" dirty="0">
                <a:solidFill>
                  <a:srgbClr val="333333"/>
                </a:solidFill>
              </a:rPr>
              <a:t>Intercept enabled before submitting the forgot password form</a:t>
            </a:r>
          </a:p>
          <a:p>
            <a:pPr marL="342900" indent="-228600">
              <a:buFont typeface="Arial"/>
              <a:buChar char="•"/>
            </a:pPr>
            <a:r>
              <a:rPr lang="en-US" sz="1250" dirty="0">
                <a:solidFill>
                  <a:srgbClr val="333333"/>
                </a:solidFill>
              </a:rPr>
              <a:t>POST /forgot-password request paused and held in Burp Proxy</a:t>
            </a:r>
          </a:p>
          <a:p>
            <a:pPr marL="342900" indent="-228600">
              <a:buFont typeface="Arial"/>
              <a:buChar char="•"/>
            </a:pPr>
            <a:r>
              <a:rPr lang="en-US" sz="1250" dirty="0">
                <a:solidFill>
                  <a:srgbClr val="333333"/>
                </a:solidFill>
              </a:rPr>
              <a:t>Full request headers and body visible including Host header value</a:t>
            </a:r>
          </a:p>
        </p:txBody>
      </p:sp>
      <p:pic>
        <p:nvPicPr>
          <p:cNvPr id="6" name="ReqImg"/>
          <p:cNvPicPr>
            <a:picLocks noChangeAspect="1"/>
          </p:cNvPicPr>
          <p:nvPr/>
        </p:nvPicPr>
        <p:blipFill>
          <a:blip r:embed="rId3"/>
          <a:stretch>
            <a:fillRect/>
          </a:stretch>
        </p:blipFill>
        <p:spPr>
          <a:xfrm>
            <a:off x="5715000" y="1115568"/>
            <a:ext cx="5120640" cy="3017520"/>
          </a:xfrm>
          <a:prstGeom prst="rect">
            <a:avLst/>
          </a:prstGeom>
        </p:spPr>
      </p:pic>
      <p:sp>
        <p:nvSpPr>
          <p:cNvPr id="7" name="ReqCap"/>
          <p:cNvSpPr/>
          <p:nvPr/>
        </p:nvSpPr>
        <p:spPr>
          <a:xfrm>
            <a:off x="5715000" y="4169664"/>
            <a:ext cx="5120640" cy="256032"/>
          </a:xfrm>
          <a:prstGeom prst="rect">
            <a:avLst/>
          </a:prstGeom>
          <a:noFill/>
          <a:ln>
            <a:noFill/>
          </a:ln>
        </p:spPr>
        <p:txBody>
          <a:bodyPr anchor="t"/>
          <a:lstStyle/>
          <a:p>
            <a:pPr algn="l">
              <a:buNone/>
            </a:pPr>
            <a:r>
              <a:rPr lang="en-US" sz="1050" i="1" dirty="0">
                <a:solidFill>
                  <a:srgbClr val="444444"/>
                </a:solidFill>
              </a:rPr>
              <a:t>Figure 6: Intercepted HTTP Request — Host header clearly visible, request forwarded to Repeater</a:t>
            </a:r>
          </a:p>
        </p:txBody>
      </p:sp>
      <p:sp>
        <p:nvSpPr>
          <p:cNvPr id="8" name="ReqDesc"/>
          <p:cNvSpPr/>
          <p:nvPr/>
        </p:nvSpPr>
        <p:spPr>
          <a:xfrm>
            <a:off x="5715000" y="4462272"/>
            <a:ext cx="5120640" cy="1371600"/>
          </a:xfrm>
          <a:prstGeom prst="rect">
            <a:avLst/>
          </a:prstGeom>
          <a:noFill/>
          <a:ln>
            <a:noFill/>
          </a:ln>
        </p:spPr>
        <p:txBody>
          <a:bodyPr anchor="t"/>
          <a:lstStyle/>
          <a:p>
            <a:pPr>
              <a:buNone/>
            </a:pPr>
            <a:r>
              <a:rPr lang="en-US" sz="1300" b="1" dirty="0">
                <a:solidFill>
                  <a:srgbClr val="1F2D54"/>
                </a:solidFill>
              </a:rPr>
              <a:t>Request Analysis:</a:t>
            </a:r>
          </a:p>
          <a:p>
            <a:pPr marL="342900" indent="-228600">
              <a:buFont typeface="Arial"/>
              <a:buChar char="•"/>
            </a:pPr>
            <a:r>
              <a:rPr lang="en-US" sz="1250" dirty="0">
                <a:solidFill>
                  <a:srgbClr val="333333"/>
                </a:solidFill>
              </a:rPr>
              <a:t>Host: 0a80...web-security-academy.net (legitimate baseline)</a:t>
            </a:r>
          </a:p>
          <a:p>
            <a:pPr marL="342900" indent="-228600">
              <a:buFont typeface="Arial"/>
              <a:buChar char="•"/>
            </a:pPr>
            <a:r>
              <a:rPr lang="en-US" sz="1250" dirty="0">
                <a:solidFill>
                  <a:srgbClr val="333333"/>
                </a:solidFill>
              </a:rPr>
              <a:t>POST body contains: username=carlos (victim account)</a:t>
            </a:r>
          </a:p>
          <a:p>
            <a:pPr marL="342900" indent="-228600">
              <a:buFont typeface="Arial"/>
              <a:buChar char="•"/>
            </a:pPr>
            <a:r>
              <a:rPr lang="en-US" sz="1250" dirty="0">
                <a:solidFill>
                  <a:srgbClr val="333333"/>
                </a:solidFill>
              </a:rPr>
              <a:t>Request forwarded to Repeater for controlled manipulation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2 — HTTP Request Analysis in BurpSuite</a:t>
            </a:r>
          </a:p>
        </p:txBody>
      </p:sp>
      <p:pic>
        <p:nvPicPr>
          <p:cNvPr id="3" name="AnalImg"/>
          <p:cNvPicPr>
            <a:picLocks noChangeAspect="1"/>
          </p:cNvPicPr>
          <p:nvPr/>
        </p:nvPicPr>
        <p:blipFill>
          <a:blip r:embed="rId2"/>
          <a:stretch>
            <a:fillRect/>
          </a:stretch>
        </p:blipFill>
        <p:spPr>
          <a:xfrm>
            <a:off x="320040" y="1115568"/>
            <a:ext cx="10515600" cy="3337560"/>
          </a:xfrm>
          <a:prstGeom prst="rect">
            <a:avLst/>
          </a:prstGeom>
        </p:spPr>
      </p:pic>
      <p:sp>
        <p:nvSpPr>
          <p:cNvPr id="4" name="AnalCap"/>
          <p:cNvSpPr/>
          <p:nvPr/>
        </p:nvSpPr>
        <p:spPr>
          <a:xfrm>
            <a:off x="320040" y="4507992"/>
            <a:ext cx="10515600" cy="256032"/>
          </a:xfrm>
          <a:prstGeom prst="rect">
            <a:avLst/>
          </a:prstGeom>
          <a:noFill/>
          <a:ln>
            <a:noFill/>
          </a:ln>
        </p:spPr>
        <p:txBody>
          <a:bodyPr anchor="t"/>
          <a:lstStyle/>
          <a:p>
            <a:pPr algn="l">
              <a:buNone/>
            </a:pPr>
            <a:r>
              <a:rPr lang="en-US" sz="1050" i="1" dirty="0">
                <a:solidFill>
                  <a:srgbClr val="444444"/>
                </a:solidFill>
              </a:rPr>
              <a:t>Figure 7: Full HTTP Request Analysis — Burp Proxy showing request headers, Host value, response, and Inspector panel side by side</a:t>
            </a:r>
          </a:p>
        </p:txBody>
      </p:sp>
      <p:sp>
        <p:nvSpPr>
          <p:cNvPr id="5" name="KPTxt"/>
          <p:cNvSpPr/>
          <p:nvPr/>
        </p:nvSpPr>
        <p:spPr>
          <a:xfrm>
            <a:off x="320040" y="4800600"/>
            <a:ext cx="10515600" cy="1005840"/>
          </a:xfrm>
          <a:prstGeom prst="rect">
            <a:avLst/>
          </a:prstGeom>
          <a:noFill/>
          <a:ln>
            <a:noFill/>
          </a:ln>
        </p:spPr>
        <p:txBody>
          <a:bodyPr anchor="t"/>
          <a:lstStyle/>
          <a:p>
            <a:pPr>
              <a:buNone/>
            </a:pPr>
            <a:r>
              <a:rPr lang="en-US" sz="1300" b="1" dirty="0">
                <a:solidFill>
                  <a:srgbClr val="1F2D54"/>
                </a:solidFill>
              </a:rPr>
              <a:t>Key Observations from Request Analysis:</a:t>
            </a:r>
          </a:p>
          <a:p>
            <a:pPr marL="342900" indent="-228600">
              <a:buFont typeface="Arial"/>
              <a:buChar char="•"/>
            </a:pPr>
            <a:r>
              <a:rPr lang="en-US" sz="1250" dirty="0">
                <a:solidFill>
                  <a:srgbClr val="333333"/>
                </a:solidFill>
              </a:rPr>
              <a:t>Host header value is the primary injection point identified for manipulation</a:t>
            </a:r>
          </a:p>
          <a:p>
            <a:pPr marL="342900" indent="-228600">
              <a:buFont typeface="Arial"/>
              <a:buChar char="•"/>
            </a:pPr>
            <a:r>
              <a:rPr lang="en-US" sz="1250" dirty="0">
                <a:solidFill>
                  <a:srgbClr val="333333"/>
                </a:solidFill>
              </a:rPr>
              <a:t>Content-Type: application/x-www-form-urlencoded  |  POST body: username=carlos</a:t>
            </a:r>
          </a:p>
          <a:p>
            <a:pPr marL="342900" indent="-228600">
              <a:buFont typeface="Arial"/>
              <a:buChar char="•"/>
            </a:pPr>
            <a:r>
              <a:rPr lang="en-US" sz="1250" dirty="0">
                <a:solidFill>
                  <a:srgbClr val="333333"/>
                </a:solidFill>
              </a:rPr>
              <a:t>HTTP History tab confirms the request was captured and logged for analysis</a:t>
            </a:r>
          </a:p>
          <a:p>
            <a:pPr marL="342900" indent="-228600">
              <a:buFont typeface="Arial"/>
              <a:buChar char="•"/>
            </a:pPr>
            <a:r>
              <a:rPr lang="en-US" sz="1250" dirty="0">
                <a:solidFill>
                  <a:srgbClr val="333333"/>
                </a:solidFill>
              </a:rPr>
              <a:t>Request structure forwarded to Repeater for systematic payload testing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3 — Host Header Manipulation Payloads</a:t>
            </a:r>
          </a:p>
        </p:txBody>
      </p:sp>
      <p:sp>
        <p:nvSpPr>
          <p:cNvPr id="3" name="CB1"/>
          <p:cNvSpPr/>
          <p:nvPr/>
        </p:nvSpPr>
        <p:spPr>
          <a:xfrm>
            <a:off x="320040" y="1115568"/>
            <a:ext cx="5120640" cy="2194560"/>
          </a:xfrm>
          <a:prstGeom prst="rect">
            <a:avLst/>
          </a:prstGeom>
          <a:solidFill>
            <a:srgbClr val="F5F7FA"/>
          </a:solidFill>
          <a:ln>
            <a:solidFill>
              <a:srgbClr val="CCCCCC"/>
            </a:solidFill>
          </a:ln>
        </p:spPr>
        <p:txBody>
          <a:bodyPr/>
          <a:lstStyle/>
          <a:p>
            <a:endParaRPr/>
          </a:p>
        </p:txBody>
      </p:sp>
      <p:sp>
        <p:nvSpPr>
          <p:cNvPr id="4" name="P1Txt"/>
          <p:cNvSpPr/>
          <p:nvPr/>
        </p:nvSpPr>
        <p:spPr>
          <a:xfrm>
            <a:off x="457200" y="1252728"/>
            <a:ext cx="4846320" cy="2011680"/>
          </a:xfrm>
          <a:prstGeom prst="rect">
            <a:avLst/>
          </a:prstGeom>
          <a:noFill/>
          <a:ln>
            <a:noFill/>
          </a:ln>
        </p:spPr>
        <p:txBody>
          <a:bodyPr anchor="t"/>
          <a:lstStyle/>
          <a:p>
            <a:pPr>
              <a:buNone/>
            </a:pPr>
            <a:r>
              <a:rPr lang="en-US" sz="1380" b="1" dirty="0">
                <a:solidFill>
                  <a:srgbClr val="1F2D54"/>
                </a:solidFill>
              </a:rPr>
              <a:t>Payload 1 — Generic Attacker Domain</a:t>
            </a:r>
          </a:p>
          <a:p>
            <a:pPr>
              <a:buNone/>
            </a:pPr>
            <a:endParaRPr lang="en-US" sz="1380" b="1" dirty="0">
              <a:solidFill>
                <a:srgbClr val="1F2D54"/>
              </a:solidFill>
            </a:endParaRPr>
          </a:p>
          <a:p>
            <a:pPr>
              <a:buNone/>
            </a:pPr>
            <a:r>
              <a:rPr lang="en-US" sz="1280" dirty="0">
                <a:solidFill>
                  <a:srgbClr val="2C3E50"/>
                </a:solidFill>
              </a:rPr>
              <a:t>POST /forgot-password HTTP/2</a:t>
            </a:r>
          </a:p>
          <a:p>
            <a:pPr>
              <a:buNone/>
            </a:pPr>
            <a:r>
              <a:rPr lang="en-US" sz="1280" b="1" dirty="0">
                <a:solidFill>
                  <a:srgbClr val="C0392B"/>
                </a:solidFill>
              </a:rPr>
              <a:t>Host: attacker.com</a:t>
            </a:r>
          </a:p>
          <a:p>
            <a:pPr>
              <a:buNone/>
            </a:pPr>
            <a:r>
              <a:rPr lang="en-US" sz="1200" dirty="0">
                <a:solidFill>
                  <a:srgbClr val="555555"/>
                </a:solidFill>
              </a:rPr>
              <a:t>Content-Type: application/x-www-form-urlencoded</a:t>
            </a:r>
          </a:p>
          <a:p>
            <a:pPr>
              <a:buNone/>
            </a:pPr>
            <a:r>
              <a:rPr lang="en-US" sz="1200" dirty="0">
                <a:solidFill>
                  <a:srgbClr val="555555"/>
                </a:solidFill>
              </a:rPr>
              <a:t>username=carlos</a:t>
            </a:r>
          </a:p>
          <a:p>
            <a:pPr>
              <a:buNone/>
            </a:pPr>
            <a:endParaRPr lang="en-US" sz="1200" dirty="0">
              <a:solidFill>
                <a:srgbClr val="555555"/>
              </a:solidFill>
            </a:endParaRPr>
          </a:p>
          <a:p>
            <a:pPr>
              <a:buNone/>
            </a:pPr>
            <a:r>
              <a:rPr lang="en-US" sz="1300" b="1" dirty="0">
                <a:solidFill>
                  <a:srgbClr val="27AE60"/>
                </a:solidFill>
              </a:rPr>
              <a:t>Result: HTTP/2 200 OK — Request Accepted</a:t>
            </a:r>
          </a:p>
        </p:txBody>
      </p:sp>
      <p:sp>
        <p:nvSpPr>
          <p:cNvPr id="5" name="CB2"/>
          <p:cNvSpPr/>
          <p:nvPr/>
        </p:nvSpPr>
        <p:spPr>
          <a:xfrm>
            <a:off x="320040" y="3493008"/>
            <a:ext cx="5120640" cy="2194560"/>
          </a:xfrm>
          <a:prstGeom prst="rect">
            <a:avLst/>
          </a:prstGeom>
          <a:solidFill>
            <a:srgbClr val="F5F7FA"/>
          </a:solidFill>
          <a:ln>
            <a:solidFill>
              <a:srgbClr val="CCCCCC"/>
            </a:solidFill>
          </a:ln>
        </p:spPr>
        <p:txBody>
          <a:bodyPr/>
          <a:lstStyle/>
          <a:p>
            <a:endParaRPr/>
          </a:p>
        </p:txBody>
      </p:sp>
      <p:sp>
        <p:nvSpPr>
          <p:cNvPr id="6" name="P2Txt"/>
          <p:cNvSpPr/>
          <p:nvPr/>
        </p:nvSpPr>
        <p:spPr>
          <a:xfrm>
            <a:off x="457200" y="3630168"/>
            <a:ext cx="4846320" cy="2011680"/>
          </a:xfrm>
          <a:prstGeom prst="rect">
            <a:avLst/>
          </a:prstGeom>
          <a:noFill/>
          <a:ln>
            <a:noFill/>
          </a:ln>
        </p:spPr>
        <p:txBody>
          <a:bodyPr anchor="t"/>
          <a:lstStyle/>
          <a:p>
            <a:pPr>
              <a:buNone/>
            </a:pPr>
            <a:r>
              <a:rPr lang="en-US" sz="1380" b="1" dirty="0">
                <a:solidFill>
                  <a:srgbClr val="1F2D54"/>
                </a:solidFill>
              </a:rPr>
              <a:t>Payload 2 — Exploit Server Domain</a:t>
            </a:r>
          </a:p>
          <a:p>
            <a:pPr>
              <a:buNone/>
            </a:pPr>
            <a:endParaRPr lang="en-US" sz="1380" b="1" dirty="0">
              <a:solidFill>
                <a:srgbClr val="1F2D54"/>
              </a:solidFill>
            </a:endParaRPr>
          </a:p>
          <a:p>
            <a:pPr>
              <a:buNone/>
            </a:pPr>
            <a:r>
              <a:rPr lang="en-US" sz="1280" dirty="0">
                <a:solidFill>
                  <a:srgbClr val="2C3E50"/>
                </a:solidFill>
              </a:rPr>
              <a:t>POST /forgot-password HTTP/2</a:t>
            </a:r>
          </a:p>
          <a:p>
            <a:pPr>
              <a:buNone/>
            </a:pPr>
            <a:r>
              <a:rPr lang="en-US" sz="1180" b="1" dirty="0">
                <a:solidFill>
                  <a:srgbClr val="C0392B"/>
                </a:solidFill>
              </a:rPr>
              <a:t>Host: exploit-0a5e009403844d5b.exploit-server.net</a:t>
            </a:r>
          </a:p>
          <a:p>
            <a:pPr>
              <a:buNone/>
            </a:pPr>
            <a:r>
              <a:rPr lang="en-US" sz="1200" dirty="0">
                <a:solidFill>
                  <a:srgbClr val="555555"/>
                </a:solidFill>
              </a:rPr>
              <a:t>Content-Type: application/x-www-form-urlencoded</a:t>
            </a:r>
          </a:p>
          <a:p>
            <a:pPr>
              <a:buNone/>
            </a:pPr>
            <a:r>
              <a:rPr lang="en-US" sz="1200" dirty="0">
                <a:solidFill>
                  <a:srgbClr val="555555"/>
                </a:solidFill>
              </a:rPr>
              <a:t>username=carlos</a:t>
            </a:r>
          </a:p>
          <a:p>
            <a:pPr>
              <a:buNone/>
            </a:pPr>
            <a:endParaRPr lang="en-US" sz="1200" dirty="0">
              <a:solidFill>
                <a:srgbClr val="555555"/>
              </a:solidFill>
            </a:endParaRPr>
          </a:p>
          <a:p>
            <a:pPr>
              <a:buNone/>
            </a:pPr>
            <a:r>
              <a:rPr lang="en-US" sz="1300" b="1" dirty="0">
                <a:solidFill>
                  <a:srgbClr val="27AE60"/>
                </a:solidFill>
              </a:rPr>
              <a:t>Result: HTTP/2 200 OK — Exploit Server Accepted</a:t>
            </a:r>
          </a:p>
        </p:txBody>
      </p:sp>
      <p:sp>
        <p:nvSpPr>
          <p:cNvPr id="7" name="ResBg"/>
          <p:cNvSpPr/>
          <p:nvPr/>
        </p:nvSpPr>
        <p:spPr>
          <a:xfrm>
            <a:off x="5715000" y="1115568"/>
            <a:ext cx="5120640" cy="4663440"/>
          </a:xfrm>
          <a:prstGeom prst="rect">
            <a:avLst/>
          </a:prstGeom>
          <a:solidFill>
            <a:srgbClr val="1F2D54"/>
          </a:solidFill>
          <a:ln>
            <a:noFill/>
          </a:ln>
        </p:spPr>
        <p:txBody>
          <a:bodyPr/>
          <a:lstStyle/>
          <a:p>
            <a:endParaRPr/>
          </a:p>
        </p:txBody>
      </p:sp>
      <p:sp>
        <p:nvSpPr>
          <p:cNvPr id="8" name="ResTxt"/>
          <p:cNvSpPr/>
          <p:nvPr/>
        </p:nvSpPr>
        <p:spPr>
          <a:xfrm>
            <a:off x="5879592" y="1280160"/>
            <a:ext cx="4791456" cy="4389120"/>
          </a:xfrm>
          <a:prstGeom prst="rect">
            <a:avLst/>
          </a:prstGeom>
          <a:noFill/>
          <a:ln>
            <a:noFill/>
          </a:ln>
        </p:spPr>
        <p:txBody>
          <a:bodyPr anchor="t"/>
          <a:lstStyle/>
          <a:p>
            <a:pPr>
              <a:buNone/>
            </a:pPr>
            <a:r>
              <a:rPr lang="en-US" sz="1700" b="1" dirty="0">
                <a:solidFill>
                  <a:srgbClr val="FFFFFF"/>
                </a:solidFill>
              </a:rPr>
              <a:t>Testing Results</a:t>
            </a:r>
          </a:p>
          <a:p>
            <a:pPr>
              <a:buNone/>
            </a:pPr>
            <a:endParaRPr lang="en-US" sz="1700" b="1" dirty="0">
              <a:solidFill>
                <a:srgbClr val="FFFFFF"/>
              </a:solidFill>
            </a:endParaRPr>
          </a:p>
          <a:p>
            <a:pPr>
              <a:buNone/>
            </a:pPr>
            <a:r>
              <a:rPr lang="en-US" sz="1400" b="1" dirty="0">
                <a:solidFill>
                  <a:srgbClr val="7EC8E3"/>
                </a:solidFill>
              </a:rPr>
              <a:t>Confirmed Vulnerability:</a:t>
            </a:r>
          </a:p>
          <a:p>
            <a:pPr marL="342900" indent="-228600">
              <a:buFont typeface="Arial"/>
              <a:buChar char="•"/>
            </a:pPr>
            <a:r>
              <a:rPr lang="en-US" sz="1300" b="1" dirty="0">
                <a:solidFill>
                  <a:srgbClr val="FFB3B3"/>
                </a:solidFill>
              </a:rPr>
              <a:t>Server returned HTTP/2 200 OK for both payloads</a:t>
            </a:r>
          </a:p>
          <a:p>
            <a:pPr marL="342900" indent="-228600">
              <a:buFont typeface="Arial"/>
              <a:buChar char="•"/>
            </a:pPr>
            <a:r>
              <a:rPr lang="en-US" sz="1300" dirty="0">
                <a:solidFill>
                  <a:srgbClr val="FFFFFF"/>
                </a:solidFill>
              </a:rPr>
              <a:t>Password reset processed with attacker.com as Host</a:t>
            </a:r>
          </a:p>
          <a:p>
            <a:pPr marL="342900" indent="-228600">
              <a:buFont typeface="Arial"/>
              <a:buChar char="•"/>
            </a:pPr>
            <a:r>
              <a:rPr lang="en-US" sz="1300" dirty="0">
                <a:solidFill>
                  <a:srgbClr val="FFFFFF"/>
                </a:solidFill>
              </a:rPr>
              <a:t>Exploit server domain accepted without restriction</a:t>
            </a:r>
          </a:p>
          <a:p>
            <a:pPr marL="342900" indent="-228600">
              <a:buFont typeface="Arial"/>
              <a:buChar char="•"/>
            </a:pPr>
            <a:r>
              <a:rPr lang="en-US" sz="1300" b="1" dirty="0">
                <a:solidFill>
                  <a:srgbClr val="FFB3B3"/>
                </a:solidFill>
              </a:rPr>
              <a:t>No validation or whitelisting of Host header detected</a:t>
            </a:r>
          </a:p>
          <a:p>
            <a:pPr>
              <a:buNone/>
            </a:pPr>
            <a:endParaRPr lang="en-US" sz="1300" b="1" dirty="0">
              <a:solidFill>
                <a:srgbClr val="FFB3B3"/>
              </a:solidFill>
            </a:endParaRPr>
          </a:p>
          <a:p>
            <a:pPr>
              <a:buNone/>
            </a:pPr>
            <a:r>
              <a:rPr lang="en-US" sz="1400" b="1" dirty="0">
                <a:solidFill>
                  <a:srgbClr val="7EC8E3"/>
                </a:solidFill>
              </a:rPr>
              <a:t>Attack Impact:</a:t>
            </a:r>
          </a:p>
          <a:p>
            <a:pPr marL="342900" indent="-228600">
              <a:buFont typeface="Arial"/>
              <a:buChar char="•"/>
            </a:pPr>
            <a:r>
              <a:rPr lang="en-US" sz="1300" dirty="0">
                <a:solidFill>
                  <a:srgbClr val="FFFFFF"/>
                </a:solidFill>
              </a:rPr>
              <a:t>Generated reset link would embed attacker domain</a:t>
            </a:r>
          </a:p>
          <a:p>
            <a:pPr marL="342900" indent="-228600">
              <a:buFont typeface="Arial"/>
              <a:buChar char="•"/>
            </a:pPr>
            <a:r>
              <a:rPr lang="en-US" sz="1300" dirty="0">
                <a:solidFill>
                  <a:srgbClr val="FFB3B3"/>
                </a:solidFill>
              </a:rPr>
              <a:t>Victim email contains poisoned URL to attacker server</a:t>
            </a:r>
          </a:p>
          <a:p>
            <a:pPr marL="342900" indent="-228600">
              <a:buFont typeface="Arial"/>
              <a:buChar char="•"/>
            </a:pPr>
            <a:r>
              <a:rPr lang="en-US" sz="1300" b="1" dirty="0">
                <a:solidFill>
                  <a:srgbClr val="FF6666"/>
                </a:solidFill>
              </a:rPr>
              <a:t>Token captured — full account takeover possible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3 — Exploit Server Validation (Screenshots)</a:t>
            </a:r>
          </a:p>
        </p:txBody>
      </p:sp>
      <p:pic>
        <p:nvPicPr>
          <p:cNvPr id="3" name="ESImg"/>
          <p:cNvPicPr>
            <a:picLocks noChangeAspect="1"/>
          </p:cNvPicPr>
          <p:nvPr/>
        </p:nvPicPr>
        <p:blipFill>
          <a:blip r:embed="rId2"/>
          <a:stretch>
            <a:fillRect/>
          </a:stretch>
        </p:blipFill>
        <p:spPr>
          <a:xfrm>
            <a:off x="320040" y="1115568"/>
            <a:ext cx="5120640" cy="3017520"/>
          </a:xfrm>
          <a:prstGeom prst="rect">
            <a:avLst/>
          </a:prstGeom>
        </p:spPr>
      </p:pic>
      <p:sp>
        <p:nvSpPr>
          <p:cNvPr id="4" name="ESCap"/>
          <p:cNvSpPr/>
          <p:nvPr/>
        </p:nvSpPr>
        <p:spPr>
          <a:xfrm>
            <a:off x="320040" y="4169664"/>
            <a:ext cx="5120640" cy="256032"/>
          </a:xfrm>
          <a:prstGeom prst="rect">
            <a:avLst/>
          </a:prstGeom>
          <a:noFill/>
          <a:ln>
            <a:noFill/>
          </a:ln>
        </p:spPr>
        <p:txBody>
          <a:bodyPr anchor="t"/>
          <a:lstStyle/>
          <a:p>
            <a:pPr algn="l">
              <a:buNone/>
            </a:pPr>
            <a:r>
              <a:rPr lang="en-US" sz="1050" i="1" dirty="0">
                <a:solidFill>
                  <a:srgbClr val="444444"/>
                </a:solidFill>
              </a:rPr>
              <a:t>Figure 8: PortSwigger Exploit Server — attacker domain configured, /exploit path set as response handler</a:t>
            </a:r>
          </a:p>
        </p:txBody>
      </p:sp>
      <p:sp>
        <p:nvSpPr>
          <p:cNvPr id="5" name="ESDesc"/>
          <p:cNvSpPr/>
          <p:nvPr/>
        </p:nvSpPr>
        <p:spPr>
          <a:xfrm>
            <a:off x="320040" y="4462272"/>
            <a:ext cx="5120640" cy="1371600"/>
          </a:xfrm>
          <a:prstGeom prst="rect">
            <a:avLst/>
          </a:prstGeom>
          <a:noFill/>
          <a:ln>
            <a:noFill/>
          </a:ln>
        </p:spPr>
        <p:txBody>
          <a:bodyPr anchor="t"/>
          <a:lstStyle/>
          <a:p>
            <a:pPr>
              <a:buNone/>
            </a:pPr>
            <a:r>
              <a:rPr lang="en-US" sz="1300" b="1" dirty="0">
                <a:solidFill>
                  <a:srgbClr val="1F2D54"/>
                </a:solidFill>
              </a:rPr>
              <a:t>Exploit Server Setup:</a:t>
            </a:r>
          </a:p>
          <a:p>
            <a:pPr marL="342900" indent="-228600">
              <a:buFont typeface="Arial"/>
              <a:buChar char="•"/>
            </a:pPr>
            <a:r>
              <a:rPr lang="en-US" sz="1250" dirty="0">
                <a:solidFill>
                  <a:srgbClr val="333333"/>
                </a:solidFill>
              </a:rPr>
              <a:t>PortSwigger provides attacker-controlled server for testing</a:t>
            </a:r>
          </a:p>
          <a:p>
            <a:pPr marL="342900" indent="-228600">
              <a:buFont typeface="Arial"/>
              <a:buChar char="•"/>
            </a:pPr>
            <a:r>
              <a:rPr lang="en-US" sz="1250" dirty="0">
                <a:solidFill>
                  <a:srgbClr val="333333"/>
                </a:solidFill>
              </a:rPr>
              <a:t>Server URL injected as Host header value in Repeater</a:t>
            </a:r>
          </a:p>
          <a:p>
            <a:pPr marL="342900" indent="-228600">
              <a:buFont typeface="Arial"/>
              <a:buChar char="•"/>
            </a:pPr>
            <a:r>
              <a:rPr lang="en-US" sz="1250" dirty="0">
                <a:solidFill>
                  <a:srgbClr val="333333"/>
                </a:solidFill>
              </a:rPr>
              <a:t>Any request hitting exploit server is logged with full details</a:t>
            </a:r>
          </a:p>
          <a:p>
            <a:pPr marL="342900" indent="-228600">
              <a:buFont typeface="Arial"/>
              <a:buChar char="•"/>
            </a:pPr>
            <a:r>
              <a:rPr lang="en-US" sz="1250" dirty="0">
                <a:solidFill>
                  <a:srgbClr val="C0392B"/>
                </a:solidFill>
              </a:rPr>
              <a:t>Confirms token delivery if victim clicks poisoned reset link</a:t>
            </a:r>
          </a:p>
        </p:txBody>
      </p:sp>
      <p:pic>
        <p:nvPicPr>
          <p:cNvPr id="6" name="EIImg"/>
          <p:cNvPicPr>
            <a:picLocks noChangeAspect="1"/>
          </p:cNvPicPr>
          <p:nvPr/>
        </p:nvPicPr>
        <p:blipFill>
          <a:blip r:embed="rId3"/>
          <a:stretch>
            <a:fillRect/>
          </a:stretch>
        </p:blipFill>
        <p:spPr>
          <a:xfrm>
            <a:off x="5715000" y="1115568"/>
            <a:ext cx="5120640" cy="3017520"/>
          </a:xfrm>
          <a:prstGeom prst="rect">
            <a:avLst/>
          </a:prstGeom>
        </p:spPr>
      </p:pic>
      <p:sp>
        <p:nvSpPr>
          <p:cNvPr id="7" name="EICap"/>
          <p:cNvSpPr/>
          <p:nvPr/>
        </p:nvSpPr>
        <p:spPr>
          <a:xfrm>
            <a:off x="5715000" y="4169664"/>
            <a:ext cx="5120640" cy="256032"/>
          </a:xfrm>
          <a:prstGeom prst="rect">
            <a:avLst/>
          </a:prstGeom>
          <a:noFill/>
          <a:ln>
            <a:noFill/>
          </a:ln>
        </p:spPr>
        <p:txBody>
          <a:bodyPr anchor="t"/>
          <a:lstStyle/>
          <a:p>
            <a:pPr algn="l">
              <a:buNone/>
            </a:pPr>
            <a:r>
              <a:rPr lang="en-US" sz="1050" i="1" dirty="0">
                <a:solidFill>
                  <a:srgbClr val="444444"/>
                </a:solidFill>
              </a:rPr>
              <a:t>Figure 9: BurpSuite Repeater — exploit server domain injected as Host, HTTP/2 200 OK response confirmed</a:t>
            </a:r>
          </a:p>
        </p:txBody>
      </p:sp>
      <p:sp>
        <p:nvSpPr>
          <p:cNvPr id="8" name="EIDesc"/>
          <p:cNvSpPr/>
          <p:nvPr/>
        </p:nvSpPr>
        <p:spPr>
          <a:xfrm>
            <a:off x="5715000" y="4462272"/>
            <a:ext cx="5120640" cy="1371600"/>
          </a:xfrm>
          <a:prstGeom prst="rect">
            <a:avLst/>
          </a:prstGeom>
          <a:noFill/>
          <a:ln>
            <a:noFill/>
          </a:ln>
        </p:spPr>
        <p:txBody>
          <a:bodyPr anchor="t"/>
          <a:lstStyle/>
          <a:p>
            <a:pPr>
              <a:buNone/>
            </a:pPr>
            <a:r>
              <a:rPr lang="en-US" sz="1300" b="1" dirty="0">
                <a:solidFill>
                  <a:srgbClr val="1F2D54"/>
                </a:solidFill>
              </a:rPr>
              <a:t>Repeater Injection Result:</a:t>
            </a:r>
          </a:p>
          <a:p>
            <a:pPr marL="342900" indent="-228600">
              <a:buFont typeface="Arial"/>
              <a:buChar char="•"/>
            </a:pPr>
            <a:r>
              <a:rPr lang="en-US" sz="1250" dirty="0">
                <a:solidFill>
                  <a:srgbClr val="C0392B"/>
                </a:solidFill>
              </a:rPr>
              <a:t>Request modified: Host: exploit-0a5e...exploit-server.net</a:t>
            </a:r>
          </a:p>
          <a:p>
            <a:pPr marL="342900" indent="-228600">
              <a:buFont typeface="Arial"/>
              <a:buChar char="•"/>
            </a:pPr>
            <a:r>
              <a:rPr lang="en-US" sz="1250" dirty="0">
                <a:solidFill>
                  <a:srgbClr val="27AE60"/>
                </a:solidFill>
              </a:rPr>
              <a:t>Server response: HTTP/2 200 OK — request processed normally</a:t>
            </a:r>
          </a:p>
          <a:p>
            <a:pPr marL="342900" indent="-228600">
              <a:buFont typeface="Arial"/>
              <a:buChar char="•"/>
            </a:pPr>
            <a:r>
              <a:rPr lang="en-US" sz="1250" dirty="0">
                <a:solidFill>
                  <a:srgbClr val="333333"/>
                </a:solidFill>
              </a:rPr>
              <a:t>Exploit server received the poisoned reset request successfully</a:t>
            </a:r>
          </a:p>
          <a:p>
            <a:pPr marL="342900" indent="-228600">
              <a:buFont typeface="Arial"/>
              <a:buChar char="•"/>
            </a:pPr>
            <a:r>
              <a:rPr lang="en-US" sz="1250" dirty="0">
                <a:solidFill>
                  <a:srgbClr val="C0392B"/>
                </a:solidFill>
              </a:rPr>
              <a:t>Vulnerability confirmed — password reset poisoning is exploitable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4 &amp; 5 — Advanced Header Injection Testing</a:t>
            </a:r>
          </a:p>
        </p:txBody>
      </p:sp>
      <p:sp>
        <p:nvSpPr>
          <p:cNvPr id="3" name="XFBg"/>
          <p:cNvSpPr/>
          <p:nvPr/>
        </p:nvSpPr>
        <p:spPr>
          <a:xfrm>
            <a:off x="320040" y="1115568"/>
            <a:ext cx="5120640" cy="2176272"/>
          </a:xfrm>
          <a:prstGeom prst="rect">
            <a:avLst/>
          </a:prstGeom>
          <a:solidFill>
            <a:srgbClr val="F5F7FA"/>
          </a:solidFill>
          <a:ln>
            <a:solidFill>
              <a:srgbClr val="CCCCCC"/>
            </a:solidFill>
          </a:ln>
        </p:spPr>
        <p:txBody>
          <a:bodyPr/>
          <a:lstStyle/>
          <a:p>
            <a:endParaRPr/>
          </a:p>
        </p:txBody>
      </p:sp>
      <p:sp>
        <p:nvSpPr>
          <p:cNvPr id="4" name="XFTxt"/>
          <p:cNvSpPr/>
          <p:nvPr/>
        </p:nvSpPr>
        <p:spPr>
          <a:xfrm>
            <a:off x="457200" y="1243584"/>
            <a:ext cx="4846320" cy="1993392"/>
          </a:xfrm>
          <a:prstGeom prst="rect">
            <a:avLst/>
          </a:prstGeom>
          <a:noFill/>
          <a:ln>
            <a:noFill/>
          </a:ln>
        </p:spPr>
        <p:txBody>
          <a:bodyPr anchor="t"/>
          <a:lstStyle/>
          <a:p>
            <a:pPr>
              <a:buNone/>
            </a:pPr>
            <a:r>
              <a:rPr lang="en-US" sz="1350" b="1" dirty="0">
                <a:solidFill>
                  <a:srgbClr val="1F2D54"/>
                </a:solidFill>
              </a:rPr>
              <a:t>X-Forwarded-Host Header Injection (Payloads 3 &amp; 4)</a:t>
            </a:r>
          </a:p>
          <a:p>
            <a:pPr>
              <a:buNone/>
            </a:pPr>
            <a:endParaRPr lang="en-US" sz="1350" b="1" dirty="0">
              <a:solidFill>
                <a:srgbClr val="1F2D54"/>
              </a:solidFill>
            </a:endParaRPr>
          </a:p>
          <a:p>
            <a:pPr>
              <a:buNone/>
            </a:pPr>
            <a:r>
              <a:rPr lang="en-US" sz="1250" dirty="0">
                <a:solidFill>
                  <a:srgbClr val="2C3E50"/>
                </a:solidFill>
              </a:rPr>
              <a:t>Host: [legitimate-lab-domain]</a:t>
            </a:r>
          </a:p>
          <a:p>
            <a:pPr>
              <a:buNone/>
            </a:pPr>
            <a:r>
              <a:rPr lang="en-US" sz="1250" b="1" dirty="0">
                <a:solidFill>
                  <a:srgbClr val="C0392B"/>
                </a:solidFill>
              </a:rPr>
              <a:t>X-Forwarded-Host: attacker.com</a:t>
            </a:r>
          </a:p>
          <a:p>
            <a:pPr>
              <a:buNone/>
            </a:pPr>
            <a:endParaRPr lang="en-US" sz="1250" b="1" dirty="0">
              <a:solidFill>
                <a:srgbClr val="C0392B"/>
              </a:solidFill>
            </a:endParaRPr>
          </a:p>
          <a:p>
            <a:pPr>
              <a:buNone/>
            </a:pPr>
            <a:r>
              <a:rPr lang="en-US" sz="1200" dirty="0">
                <a:solidFill>
                  <a:srgbClr val="555555"/>
                </a:solidFill>
              </a:rPr>
              <a:t>Also tested with exploit server domain:</a:t>
            </a:r>
          </a:p>
          <a:p>
            <a:pPr>
              <a:buNone/>
            </a:pPr>
            <a:r>
              <a:rPr lang="en-US" sz="1180" b="1" dirty="0">
                <a:solidFill>
                  <a:srgbClr val="C0392B"/>
                </a:solidFill>
              </a:rPr>
              <a:t>X-Forwarded-Host: exploit-0a22...exploit-server.net</a:t>
            </a:r>
          </a:p>
          <a:p>
            <a:pPr>
              <a:buNone/>
            </a:pPr>
            <a:endParaRPr lang="en-US" sz="1180" b="1" dirty="0">
              <a:solidFill>
                <a:srgbClr val="C0392B"/>
              </a:solidFill>
            </a:endParaRPr>
          </a:p>
          <a:p>
            <a:pPr>
              <a:buNone/>
            </a:pPr>
            <a:r>
              <a:rPr lang="en-US" sz="1280" b="1" dirty="0">
                <a:solidFill>
                  <a:srgbClr val="27AE60"/>
                </a:solidFill>
              </a:rPr>
              <a:t>Result: HTTP/2 200 OK — Both payloads accepted!</a:t>
            </a:r>
          </a:p>
        </p:txBody>
      </p:sp>
      <p:sp>
        <p:nvSpPr>
          <p:cNvPr id="5" name="DupBg"/>
          <p:cNvSpPr/>
          <p:nvPr/>
        </p:nvSpPr>
        <p:spPr>
          <a:xfrm>
            <a:off x="320040" y="3474720"/>
            <a:ext cx="5120640" cy="2176272"/>
          </a:xfrm>
          <a:prstGeom prst="rect">
            <a:avLst/>
          </a:prstGeom>
          <a:solidFill>
            <a:srgbClr val="F5F7FA"/>
          </a:solidFill>
          <a:ln>
            <a:solidFill>
              <a:srgbClr val="CCCCCC"/>
            </a:solidFill>
          </a:ln>
        </p:spPr>
        <p:txBody>
          <a:bodyPr/>
          <a:lstStyle/>
          <a:p>
            <a:endParaRPr/>
          </a:p>
        </p:txBody>
      </p:sp>
      <p:sp>
        <p:nvSpPr>
          <p:cNvPr id="6" name="DupTxt"/>
          <p:cNvSpPr/>
          <p:nvPr/>
        </p:nvSpPr>
        <p:spPr>
          <a:xfrm>
            <a:off x="457200" y="3602736"/>
            <a:ext cx="4846320" cy="1993392"/>
          </a:xfrm>
          <a:prstGeom prst="rect">
            <a:avLst/>
          </a:prstGeom>
          <a:noFill/>
          <a:ln>
            <a:noFill/>
          </a:ln>
        </p:spPr>
        <p:txBody>
          <a:bodyPr anchor="t"/>
          <a:lstStyle/>
          <a:p>
            <a:pPr>
              <a:buNone/>
            </a:pPr>
            <a:r>
              <a:rPr lang="en-US" sz="1350" b="1" dirty="0">
                <a:solidFill>
                  <a:srgbClr val="1F2D54"/>
                </a:solidFill>
              </a:rPr>
              <a:t>Duplicate Host Header Test (Payload 5)</a:t>
            </a:r>
          </a:p>
          <a:p>
            <a:pPr>
              <a:buNone/>
            </a:pPr>
            <a:endParaRPr lang="en-US" sz="1350" b="1" dirty="0">
              <a:solidFill>
                <a:srgbClr val="1F2D54"/>
              </a:solidFill>
            </a:endParaRPr>
          </a:p>
          <a:p>
            <a:pPr>
              <a:buNone/>
            </a:pPr>
            <a:r>
              <a:rPr lang="en-US" sz="1250" dirty="0">
                <a:solidFill>
                  <a:srgbClr val="2C3E50"/>
                </a:solidFill>
              </a:rPr>
              <a:t>Host: [legitimate-lab-domain]   ← Front-end sees this</a:t>
            </a:r>
          </a:p>
          <a:p>
            <a:pPr>
              <a:buNone/>
            </a:pPr>
            <a:r>
              <a:rPr lang="en-US" sz="1250" b="1" dirty="0">
                <a:solidFill>
                  <a:srgbClr val="C0392B"/>
                </a:solidFill>
              </a:rPr>
              <a:t>Host: attacker.com              ← Backend may use this</a:t>
            </a:r>
          </a:p>
          <a:p>
            <a:pPr>
              <a:buNone/>
            </a:pPr>
            <a:endParaRPr lang="en-US" sz="1250" b="1" dirty="0">
              <a:solidFill>
                <a:srgbClr val="C0392B"/>
              </a:solidFill>
            </a:endParaRPr>
          </a:p>
          <a:p>
            <a:pPr>
              <a:buNone/>
            </a:pPr>
            <a:r>
              <a:rPr lang="en-US" sz="1280" b="1" dirty="0">
                <a:solidFill>
                  <a:srgbClr val="E67E22"/>
                </a:solidFill>
              </a:rPr>
              <a:t>Result: Abnormal / inconsistent server response</a:t>
            </a:r>
          </a:p>
          <a:p>
            <a:pPr>
              <a:buNone/>
            </a:pPr>
            <a:r>
              <a:rPr lang="en-US" sz="1200" dirty="0">
                <a:solidFill>
                  <a:srgbClr val="555555"/>
                </a:solidFill>
              </a:rPr>
              <a:t>Parsing ambiguity confirmed between proxy and backend</a:t>
            </a:r>
          </a:p>
        </p:txBody>
      </p:sp>
      <p:sp>
        <p:nvSpPr>
          <p:cNvPr id="7" name="AnalBg"/>
          <p:cNvSpPr/>
          <p:nvPr/>
        </p:nvSpPr>
        <p:spPr>
          <a:xfrm>
            <a:off x="5715000" y="1115568"/>
            <a:ext cx="5120640" cy="4663440"/>
          </a:xfrm>
          <a:prstGeom prst="rect">
            <a:avLst/>
          </a:prstGeom>
          <a:solidFill>
            <a:srgbClr val="EBF3FB"/>
          </a:solidFill>
          <a:ln>
            <a:noFill/>
          </a:ln>
        </p:spPr>
        <p:txBody>
          <a:bodyPr/>
          <a:lstStyle/>
          <a:p>
            <a:endParaRPr/>
          </a:p>
        </p:txBody>
      </p:sp>
      <p:sp>
        <p:nvSpPr>
          <p:cNvPr id="8" name="AnalTxt"/>
          <p:cNvSpPr/>
          <p:nvPr/>
        </p:nvSpPr>
        <p:spPr>
          <a:xfrm>
            <a:off x="5879592" y="1280160"/>
            <a:ext cx="4791456" cy="4389120"/>
          </a:xfrm>
          <a:prstGeom prst="rect">
            <a:avLst/>
          </a:prstGeom>
          <a:noFill/>
          <a:ln>
            <a:noFill/>
          </a:ln>
        </p:spPr>
        <p:txBody>
          <a:bodyPr anchor="t"/>
          <a:lstStyle/>
          <a:p>
            <a:pPr>
              <a:buNone/>
            </a:pPr>
            <a:r>
              <a:rPr lang="en-US" sz="1600" b="1" dirty="0">
                <a:solidFill>
                  <a:srgbClr val="1F2D54"/>
                </a:solidFill>
              </a:rPr>
              <a:t>Why These Attacks Are Critical</a:t>
            </a:r>
          </a:p>
          <a:p>
            <a:pPr>
              <a:buNone/>
            </a:pPr>
            <a:endParaRPr lang="en-US" sz="1600" b="1" dirty="0">
              <a:solidFill>
                <a:srgbClr val="1F2D54"/>
              </a:solidFill>
            </a:endParaRPr>
          </a:p>
          <a:p>
            <a:pPr>
              <a:buNone/>
            </a:pPr>
            <a:r>
              <a:rPr lang="en-US" sz="1400" b="1" dirty="0">
                <a:solidFill>
                  <a:srgbClr val="C0392B"/>
                </a:solidFill>
              </a:rPr>
              <a:t>X-Forwarded-Host Attack Surface:</a:t>
            </a:r>
          </a:p>
          <a:p>
            <a:pPr marL="342900" indent="-228600">
              <a:buFont typeface="Arial"/>
              <a:buChar char="•"/>
            </a:pPr>
            <a:r>
              <a:rPr lang="en-US" sz="1300" dirty="0">
                <a:solidFill>
                  <a:srgbClr val="222222"/>
                </a:solidFill>
              </a:rPr>
              <a:t>Many backends trust this header blindly when deployed behind reverse proxies</a:t>
            </a:r>
          </a:p>
          <a:p>
            <a:pPr marL="342900" indent="-228600">
              <a:buFont typeface="Arial"/>
              <a:buChar char="•"/>
            </a:pPr>
            <a:r>
              <a:rPr lang="en-US" sz="1300" dirty="0">
                <a:solidFill>
                  <a:srgbClr val="222222"/>
                </a:solidFill>
              </a:rPr>
              <a:t>Extends Host injection even when primary Host header is monitored or filtered</a:t>
            </a:r>
          </a:p>
          <a:p>
            <a:pPr marL="342900" indent="-228600">
              <a:buFont typeface="Arial"/>
              <a:buChar char="•"/>
            </a:pPr>
            <a:r>
              <a:rPr lang="en-US" sz="1300" dirty="0">
                <a:solidFill>
                  <a:srgbClr val="222222"/>
                </a:solidFill>
              </a:rPr>
              <a:t>Allows poisoning without modifying the visible Host header</a:t>
            </a:r>
          </a:p>
          <a:p>
            <a:pPr>
              <a:buNone/>
            </a:pPr>
            <a:endParaRPr lang="en-US" sz="1300" dirty="0">
              <a:solidFill>
                <a:srgbClr val="222222"/>
              </a:solidFill>
            </a:endParaRPr>
          </a:p>
          <a:p>
            <a:pPr>
              <a:buNone/>
            </a:pPr>
            <a:r>
              <a:rPr lang="en-US" sz="1400" b="1" dirty="0">
                <a:solidFill>
                  <a:srgbClr val="E67E22"/>
                </a:solidFill>
              </a:rPr>
              <a:t>Duplicate Header Exploit Path:</a:t>
            </a:r>
          </a:p>
          <a:p>
            <a:pPr marL="342900" indent="-228600">
              <a:buFont typeface="Arial"/>
              <a:buChar char="•"/>
            </a:pPr>
            <a:r>
              <a:rPr lang="en-US" sz="1300" dirty="0">
                <a:solidFill>
                  <a:srgbClr val="222222"/>
                </a:solidFill>
              </a:rPr>
              <a:t>RFC 7230 does not define consistent behavior for duplicate Host headers</a:t>
            </a:r>
          </a:p>
          <a:p>
            <a:pPr marL="342900" indent="-228600">
              <a:buFont typeface="Arial"/>
              <a:buChar char="•"/>
            </a:pPr>
            <a:r>
              <a:rPr lang="en-US" sz="1300" dirty="0">
                <a:solidFill>
                  <a:srgbClr val="222222"/>
                </a:solidFill>
              </a:rPr>
              <a:t>Reverse proxy processes first Host; backend application may use second</a:t>
            </a:r>
          </a:p>
          <a:p>
            <a:pPr marL="342900" indent="-228600">
              <a:buFont typeface="Arial"/>
              <a:buChar char="•"/>
            </a:pPr>
            <a:r>
              <a:rPr lang="en-US" sz="1300" dirty="0">
                <a:solidFill>
                  <a:srgbClr val="222222"/>
                </a:solidFill>
              </a:rPr>
              <a:t>Enables cache poisoning — subsequent users receive attacker-injected content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Phase 6 — Final Validation &amp; Comparative Testing</a:t>
            </a:r>
          </a:p>
        </p:txBody>
      </p:sp>
      <p:pic>
        <p:nvPicPr>
          <p:cNvPr id="3" name="BrowImg"/>
          <p:cNvPicPr>
            <a:picLocks noChangeAspect="1"/>
          </p:cNvPicPr>
          <p:nvPr/>
        </p:nvPicPr>
        <p:blipFill>
          <a:blip r:embed="rId2"/>
          <a:stretch>
            <a:fillRect/>
          </a:stretch>
        </p:blipFill>
        <p:spPr>
          <a:xfrm>
            <a:off x="320040" y="1115568"/>
            <a:ext cx="10515600" cy="3154680"/>
          </a:xfrm>
          <a:prstGeom prst="rect">
            <a:avLst/>
          </a:prstGeom>
        </p:spPr>
      </p:pic>
      <p:sp>
        <p:nvSpPr>
          <p:cNvPr id="4" name="BrowCap"/>
          <p:cNvSpPr/>
          <p:nvPr/>
        </p:nvSpPr>
        <p:spPr>
          <a:xfrm>
            <a:off x="320040" y="4315968"/>
            <a:ext cx="10515600" cy="256032"/>
          </a:xfrm>
          <a:prstGeom prst="rect">
            <a:avLst/>
          </a:prstGeom>
          <a:noFill/>
          <a:ln>
            <a:noFill/>
          </a:ln>
        </p:spPr>
        <p:txBody>
          <a:bodyPr anchor="t"/>
          <a:lstStyle/>
          <a:p>
            <a:pPr algn="l">
              <a:buNone/>
            </a:pPr>
            <a:r>
              <a:rPr lang="en-US" sz="1050" i="1" dirty="0">
                <a:solidFill>
                  <a:srgbClr val="444444"/>
                </a:solidFill>
              </a:rPr>
              <a:t>Figure 10: BurpSuite Chromium Browser — Integrated browser confirming proxy routing before final validation test round</a:t>
            </a:r>
          </a:p>
        </p:txBody>
      </p:sp>
      <p:sp>
        <p:nvSpPr>
          <p:cNvPr id="5" name="KPTxt"/>
          <p:cNvSpPr/>
          <p:nvPr/>
        </p:nvSpPr>
        <p:spPr>
          <a:xfrm>
            <a:off x="320040" y="4608576"/>
            <a:ext cx="10515600" cy="960120"/>
          </a:xfrm>
          <a:prstGeom prst="rect">
            <a:avLst/>
          </a:prstGeom>
          <a:noFill/>
          <a:ln>
            <a:noFill/>
          </a:ln>
        </p:spPr>
        <p:txBody>
          <a:bodyPr anchor="t"/>
          <a:lstStyle/>
          <a:p>
            <a:pPr>
              <a:buNone/>
            </a:pPr>
            <a:r>
              <a:rPr lang="en-US" sz="1350" b="1" dirty="0">
                <a:solidFill>
                  <a:srgbClr val="1F2D54"/>
                </a:solidFill>
              </a:rPr>
              <a:t>Final Validation Comparison — Confirming Root Cause:</a:t>
            </a:r>
          </a:p>
          <a:p>
            <a:pPr marL="342900" indent="-228600">
              <a:buFont typeface="Arial"/>
              <a:buChar char="•"/>
            </a:pPr>
            <a:r>
              <a:rPr lang="en-US" sz="1280" dirty="0">
                <a:solidFill>
                  <a:srgbClr val="C0392B"/>
                </a:solidFill>
              </a:rPr>
              <a:t>Manipulated Host (attacker.com): server hung / became unresponsive or returned blank — injection confirmed</a:t>
            </a:r>
          </a:p>
          <a:p>
            <a:pPr marL="342900" indent="-228600">
              <a:buFont typeface="Arial"/>
              <a:buChar char="•"/>
            </a:pPr>
            <a:r>
              <a:rPr lang="en-US" sz="1280" dirty="0">
                <a:solidFill>
                  <a:srgbClr val="27AE60"/>
                </a:solidFill>
              </a:rPr>
              <a:t>Valid Host (legitimate domain): HTTP/2 200 OK immediately — baseline behavior normal and stable</a:t>
            </a:r>
          </a:p>
          <a:p>
            <a:pPr marL="342900" indent="-228600">
              <a:buFont typeface="Arial"/>
              <a:buChar char="•"/>
            </a:pPr>
            <a:r>
              <a:rPr lang="en-US" sz="1280" dirty="0">
                <a:solidFill>
                  <a:srgbClr val="333333"/>
                </a:solidFill>
              </a:rPr>
              <a:t>Differential response confirms Host header handling is the direct root cause — vulnerability fully validated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Key Findings Summary</a:t>
            </a:r>
          </a:p>
        </p:txBody>
      </p:sp>
      <p:sp>
        <p:nvSpPr>
          <p:cNvPr id="10" name="NumBg0"/>
          <p:cNvSpPr/>
          <p:nvPr/>
        </p:nvSpPr>
        <p:spPr>
          <a:xfrm>
            <a:off x="320040" y="1115568"/>
            <a:ext cx="640080" cy="804672"/>
          </a:xfrm>
          <a:prstGeom prst="rect">
            <a:avLst/>
          </a:prstGeom>
          <a:solidFill>
            <a:srgbClr val="C0392B"/>
          </a:solidFill>
          <a:ln>
            <a:noFill/>
          </a:ln>
        </p:spPr>
        <p:txBody>
          <a:bodyPr/>
          <a:lstStyle/>
          <a:p>
            <a:endParaRPr/>
          </a:p>
        </p:txBody>
      </p:sp>
      <p:sp>
        <p:nvSpPr>
          <p:cNvPr id="11" name="Num0"/>
          <p:cNvSpPr/>
          <p:nvPr/>
        </p:nvSpPr>
        <p:spPr>
          <a:xfrm>
            <a:off x="320040" y="1115568"/>
            <a:ext cx="640080" cy="804672"/>
          </a:xfrm>
          <a:prstGeom prst="rect">
            <a:avLst/>
          </a:prstGeom>
          <a:noFill/>
          <a:ln>
            <a:noFill/>
          </a:ln>
        </p:spPr>
        <p:txBody>
          <a:bodyPr anchor="t"/>
          <a:lstStyle/>
          <a:p>
            <a:pPr algn="ctr">
              <a:buNone/>
            </a:pPr>
            <a:r>
              <a:rPr lang="en-US" sz="2000" b="1" dirty="0">
                <a:solidFill>
                  <a:srgbClr val="FFFFFF"/>
                </a:solidFill>
              </a:rPr>
              <a:t>01</a:t>
            </a:r>
          </a:p>
        </p:txBody>
      </p:sp>
      <p:sp>
        <p:nvSpPr>
          <p:cNvPr id="12" name="FTitle0"/>
          <p:cNvSpPr/>
          <p:nvPr/>
        </p:nvSpPr>
        <p:spPr>
          <a:xfrm>
            <a:off x="1051560" y="1170432"/>
            <a:ext cx="3474720" cy="384048"/>
          </a:xfrm>
          <a:prstGeom prst="rect">
            <a:avLst/>
          </a:prstGeom>
          <a:noFill/>
          <a:ln>
            <a:noFill/>
          </a:ln>
        </p:spPr>
        <p:txBody>
          <a:bodyPr anchor="t"/>
          <a:lstStyle/>
          <a:p>
            <a:pPr>
              <a:buNone/>
            </a:pPr>
            <a:r>
              <a:rPr lang="en-US" sz="1500" b="1" dirty="0">
                <a:solidFill>
                  <a:srgbClr val="1F2D54"/>
                </a:solidFill>
              </a:rPr>
              <a:t>Arbitrary Host Values Accepted</a:t>
            </a:r>
          </a:p>
        </p:txBody>
      </p:sp>
      <p:sp>
        <p:nvSpPr>
          <p:cNvPr id="13" name="FDesc0"/>
          <p:cNvSpPr/>
          <p:nvPr/>
        </p:nvSpPr>
        <p:spPr>
          <a:xfrm>
            <a:off x="4617720" y="1170432"/>
            <a:ext cx="6766560" cy="685800"/>
          </a:xfrm>
          <a:prstGeom prst="rect">
            <a:avLst/>
          </a:prstGeom>
          <a:noFill/>
          <a:ln>
            <a:noFill/>
          </a:ln>
        </p:spPr>
        <p:txBody>
          <a:bodyPr anchor="t"/>
          <a:lstStyle/>
          <a:p>
            <a:pPr>
              <a:buNone/>
            </a:pPr>
            <a:r>
              <a:rPr lang="en-US" sz="1300" dirty="0">
                <a:solidFill>
                  <a:srgbClr val="333333"/>
                </a:solidFill>
              </a:rPr>
              <a:t>Application accepted attacker.com and exploit server domain with no whitelist validation or rejection mechanism.</a:t>
            </a:r>
          </a:p>
        </p:txBody>
      </p:sp>
      <p:sp>
        <p:nvSpPr>
          <p:cNvPr id="14" name="NumBg1"/>
          <p:cNvSpPr/>
          <p:nvPr/>
        </p:nvSpPr>
        <p:spPr>
          <a:xfrm>
            <a:off x="320040" y="2011680"/>
            <a:ext cx="640080" cy="804672"/>
          </a:xfrm>
          <a:prstGeom prst="rect">
            <a:avLst/>
          </a:prstGeom>
          <a:solidFill>
            <a:srgbClr val="C0392B"/>
          </a:solidFill>
          <a:ln>
            <a:noFill/>
          </a:ln>
        </p:spPr>
        <p:txBody>
          <a:bodyPr/>
          <a:lstStyle/>
          <a:p>
            <a:endParaRPr/>
          </a:p>
        </p:txBody>
      </p:sp>
      <p:sp>
        <p:nvSpPr>
          <p:cNvPr id="15" name="Num1"/>
          <p:cNvSpPr/>
          <p:nvPr/>
        </p:nvSpPr>
        <p:spPr>
          <a:xfrm>
            <a:off x="320040" y="2011680"/>
            <a:ext cx="640080" cy="804672"/>
          </a:xfrm>
          <a:prstGeom prst="rect">
            <a:avLst/>
          </a:prstGeom>
          <a:noFill/>
          <a:ln>
            <a:noFill/>
          </a:ln>
        </p:spPr>
        <p:txBody>
          <a:bodyPr anchor="t"/>
          <a:lstStyle/>
          <a:p>
            <a:pPr algn="ctr">
              <a:buNone/>
            </a:pPr>
            <a:r>
              <a:rPr lang="en-US" sz="2000" b="1" dirty="0">
                <a:solidFill>
                  <a:srgbClr val="FFFFFF"/>
                </a:solidFill>
              </a:rPr>
              <a:t>02</a:t>
            </a:r>
          </a:p>
        </p:txBody>
      </p:sp>
      <p:sp>
        <p:nvSpPr>
          <p:cNvPr id="16" name="FTitle1"/>
          <p:cNvSpPr/>
          <p:nvPr/>
        </p:nvSpPr>
        <p:spPr>
          <a:xfrm>
            <a:off x="1051560" y="2066544"/>
            <a:ext cx="3474720" cy="384048"/>
          </a:xfrm>
          <a:prstGeom prst="rect">
            <a:avLst/>
          </a:prstGeom>
          <a:noFill/>
          <a:ln>
            <a:noFill/>
          </a:ln>
        </p:spPr>
        <p:txBody>
          <a:bodyPr anchor="t"/>
          <a:lstStyle/>
          <a:p>
            <a:pPr>
              <a:buNone/>
            </a:pPr>
            <a:r>
              <a:rPr lang="en-US" sz="1500" b="1" dirty="0">
                <a:solidFill>
                  <a:srgbClr val="1F2D54"/>
                </a:solidFill>
              </a:rPr>
              <a:t>Password Reset Poisoning Confirmed</a:t>
            </a:r>
          </a:p>
        </p:txBody>
      </p:sp>
      <p:sp>
        <p:nvSpPr>
          <p:cNvPr id="17" name="FDesc1"/>
          <p:cNvSpPr/>
          <p:nvPr/>
        </p:nvSpPr>
        <p:spPr>
          <a:xfrm>
            <a:off x="4617720" y="2066544"/>
            <a:ext cx="6766560" cy="685800"/>
          </a:xfrm>
          <a:prstGeom prst="rect">
            <a:avLst/>
          </a:prstGeom>
          <a:noFill/>
          <a:ln>
            <a:noFill/>
          </a:ln>
        </p:spPr>
        <p:txBody>
          <a:bodyPr anchor="t"/>
          <a:lstStyle/>
          <a:p>
            <a:pPr>
              <a:buNone/>
            </a:pPr>
            <a:r>
              <a:rPr lang="en-US" sz="1300" dirty="0">
                <a:solidFill>
                  <a:srgbClr val="333333"/>
                </a:solidFill>
              </a:rPr>
              <a:t>Functionality continued processing after Host manipulation — full poisoning chain verified end to end.</a:t>
            </a:r>
          </a:p>
        </p:txBody>
      </p:sp>
      <p:sp>
        <p:nvSpPr>
          <p:cNvPr id="18" name="NumBg2"/>
          <p:cNvSpPr/>
          <p:nvPr/>
        </p:nvSpPr>
        <p:spPr>
          <a:xfrm>
            <a:off x="320040" y="2907792"/>
            <a:ext cx="640080" cy="804672"/>
          </a:xfrm>
          <a:prstGeom prst="rect">
            <a:avLst/>
          </a:prstGeom>
          <a:solidFill>
            <a:srgbClr val="E67E22"/>
          </a:solidFill>
          <a:ln>
            <a:noFill/>
          </a:ln>
        </p:spPr>
        <p:txBody>
          <a:bodyPr/>
          <a:lstStyle/>
          <a:p>
            <a:endParaRPr/>
          </a:p>
        </p:txBody>
      </p:sp>
      <p:sp>
        <p:nvSpPr>
          <p:cNvPr id="19" name="Num2"/>
          <p:cNvSpPr/>
          <p:nvPr/>
        </p:nvSpPr>
        <p:spPr>
          <a:xfrm>
            <a:off x="320040" y="2907792"/>
            <a:ext cx="640080" cy="804672"/>
          </a:xfrm>
          <a:prstGeom prst="rect">
            <a:avLst/>
          </a:prstGeom>
          <a:noFill/>
          <a:ln>
            <a:noFill/>
          </a:ln>
        </p:spPr>
        <p:txBody>
          <a:bodyPr anchor="t"/>
          <a:lstStyle/>
          <a:p>
            <a:pPr algn="ctr">
              <a:buNone/>
            </a:pPr>
            <a:r>
              <a:rPr lang="en-US" sz="2000" b="1" dirty="0">
                <a:solidFill>
                  <a:srgbClr val="FFFFFF"/>
                </a:solidFill>
              </a:rPr>
              <a:t>03</a:t>
            </a:r>
          </a:p>
        </p:txBody>
      </p:sp>
      <p:sp>
        <p:nvSpPr>
          <p:cNvPr id="20" name="FTitle2"/>
          <p:cNvSpPr/>
          <p:nvPr/>
        </p:nvSpPr>
        <p:spPr>
          <a:xfrm>
            <a:off x="1051560" y="2962656"/>
            <a:ext cx="3474720" cy="384048"/>
          </a:xfrm>
          <a:prstGeom prst="rect">
            <a:avLst/>
          </a:prstGeom>
          <a:noFill/>
          <a:ln>
            <a:noFill/>
          </a:ln>
        </p:spPr>
        <p:txBody>
          <a:bodyPr anchor="t"/>
          <a:lstStyle/>
          <a:p>
            <a:pPr>
              <a:buNone/>
            </a:pPr>
            <a:r>
              <a:rPr lang="en-US" sz="1500" b="1" dirty="0">
                <a:solidFill>
                  <a:srgbClr val="1F2D54"/>
                </a:solidFill>
              </a:rPr>
              <a:t>X-Forwarded-Host Not Validated</a:t>
            </a:r>
          </a:p>
        </p:txBody>
      </p:sp>
      <p:sp>
        <p:nvSpPr>
          <p:cNvPr id="21" name="FDesc2"/>
          <p:cNvSpPr/>
          <p:nvPr/>
        </p:nvSpPr>
        <p:spPr>
          <a:xfrm>
            <a:off x="4617720" y="2962656"/>
            <a:ext cx="6766560" cy="685800"/>
          </a:xfrm>
          <a:prstGeom prst="rect">
            <a:avLst/>
          </a:prstGeom>
          <a:noFill/>
          <a:ln>
            <a:noFill/>
          </a:ln>
        </p:spPr>
        <p:txBody>
          <a:bodyPr anchor="t"/>
          <a:lstStyle/>
          <a:p>
            <a:pPr>
              <a:buNone/>
            </a:pPr>
            <a:r>
              <a:rPr lang="en-US" sz="1300" dirty="0">
                <a:solidFill>
                  <a:srgbClr val="333333"/>
                </a:solidFill>
              </a:rPr>
              <a:t>Forwarded header accepted without restriction — attack surface extends beyond the primary Host header.</a:t>
            </a:r>
          </a:p>
        </p:txBody>
      </p:sp>
      <p:sp>
        <p:nvSpPr>
          <p:cNvPr id="22" name="NumBg3"/>
          <p:cNvSpPr/>
          <p:nvPr/>
        </p:nvSpPr>
        <p:spPr>
          <a:xfrm>
            <a:off x="320040" y="3803904"/>
            <a:ext cx="640080" cy="804672"/>
          </a:xfrm>
          <a:prstGeom prst="rect">
            <a:avLst/>
          </a:prstGeom>
          <a:solidFill>
            <a:srgbClr val="E67E22"/>
          </a:solidFill>
          <a:ln>
            <a:noFill/>
          </a:ln>
        </p:spPr>
        <p:txBody>
          <a:bodyPr/>
          <a:lstStyle/>
          <a:p>
            <a:endParaRPr/>
          </a:p>
        </p:txBody>
      </p:sp>
      <p:sp>
        <p:nvSpPr>
          <p:cNvPr id="23" name="Num3"/>
          <p:cNvSpPr/>
          <p:nvPr/>
        </p:nvSpPr>
        <p:spPr>
          <a:xfrm>
            <a:off x="320040" y="3803904"/>
            <a:ext cx="640080" cy="804672"/>
          </a:xfrm>
          <a:prstGeom prst="rect">
            <a:avLst/>
          </a:prstGeom>
          <a:noFill/>
          <a:ln>
            <a:noFill/>
          </a:ln>
        </p:spPr>
        <p:txBody>
          <a:bodyPr anchor="t"/>
          <a:lstStyle/>
          <a:p>
            <a:pPr algn="ctr">
              <a:buNone/>
            </a:pPr>
            <a:r>
              <a:rPr lang="en-US" sz="2000" b="1" dirty="0">
                <a:solidFill>
                  <a:srgbClr val="FFFFFF"/>
                </a:solidFill>
              </a:rPr>
              <a:t>04</a:t>
            </a:r>
          </a:p>
        </p:txBody>
      </p:sp>
      <p:sp>
        <p:nvSpPr>
          <p:cNvPr id="24" name="FTitle3"/>
          <p:cNvSpPr/>
          <p:nvPr/>
        </p:nvSpPr>
        <p:spPr>
          <a:xfrm>
            <a:off x="1051560" y="3858768"/>
            <a:ext cx="3474720" cy="384048"/>
          </a:xfrm>
          <a:prstGeom prst="rect">
            <a:avLst/>
          </a:prstGeom>
          <a:noFill/>
          <a:ln>
            <a:noFill/>
          </a:ln>
        </p:spPr>
        <p:txBody>
          <a:bodyPr anchor="t"/>
          <a:lstStyle/>
          <a:p>
            <a:pPr>
              <a:buNone/>
            </a:pPr>
            <a:r>
              <a:rPr lang="en-US" sz="1500" b="1" dirty="0">
                <a:solidFill>
                  <a:srgbClr val="1F2D54"/>
                </a:solidFill>
              </a:rPr>
              <a:t>Duplicate Header Parsing Ambiguity</a:t>
            </a:r>
          </a:p>
        </p:txBody>
      </p:sp>
      <p:sp>
        <p:nvSpPr>
          <p:cNvPr id="25" name="FDesc3"/>
          <p:cNvSpPr/>
          <p:nvPr/>
        </p:nvSpPr>
        <p:spPr>
          <a:xfrm>
            <a:off x="4617720" y="3858768"/>
            <a:ext cx="6766560" cy="685800"/>
          </a:xfrm>
          <a:prstGeom prst="rect">
            <a:avLst/>
          </a:prstGeom>
          <a:noFill/>
          <a:ln>
            <a:noFill/>
          </a:ln>
        </p:spPr>
        <p:txBody>
          <a:bodyPr anchor="t"/>
          <a:lstStyle/>
          <a:p>
            <a:pPr>
              <a:buNone/>
            </a:pPr>
            <a:r>
              <a:rPr lang="en-US" sz="1300" dirty="0">
                <a:solidFill>
                  <a:srgbClr val="333333"/>
                </a:solidFill>
              </a:rPr>
              <a:t>Two Host headers produced abnormal responses — confirms reverse proxy confusion and cache poisoning risk.</a:t>
            </a:r>
          </a:p>
        </p:txBody>
      </p:sp>
      <p:sp>
        <p:nvSpPr>
          <p:cNvPr id="26" name="NumBg4"/>
          <p:cNvSpPr/>
          <p:nvPr/>
        </p:nvSpPr>
        <p:spPr>
          <a:xfrm>
            <a:off x="320040" y="4700016"/>
            <a:ext cx="640080" cy="804672"/>
          </a:xfrm>
          <a:prstGeom prst="rect">
            <a:avLst/>
          </a:prstGeom>
          <a:solidFill>
            <a:srgbClr val="27AE60"/>
          </a:solidFill>
          <a:ln>
            <a:noFill/>
          </a:ln>
        </p:spPr>
        <p:txBody>
          <a:bodyPr/>
          <a:lstStyle/>
          <a:p>
            <a:endParaRPr/>
          </a:p>
        </p:txBody>
      </p:sp>
      <p:sp>
        <p:nvSpPr>
          <p:cNvPr id="27" name="Num4"/>
          <p:cNvSpPr/>
          <p:nvPr/>
        </p:nvSpPr>
        <p:spPr>
          <a:xfrm>
            <a:off x="320040" y="4700016"/>
            <a:ext cx="640080" cy="804672"/>
          </a:xfrm>
          <a:prstGeom prst="rect">
            <a:avLst/>
          </a:prstGeom>
          <a:noFill/>
          <a:ln>
            <a:noFill/>
          </a:ln>
        </p:spPr>
        <p:txBody>
          <a:bodyPr anchor="t"/>
          <a:lstStyle/>
          <a:p>
            <a:pPr algn="ctr">
              <a:buNone/>
            </a:pPr>
            <a:r>
              <a:rPr lang="en-US" sz="2000" b="1" dirty="0">
                <a:solidFill>
                  <a:srgbClr val="FFFFFF"/>
                </a:solidFill>
              </a:rPr>
              <a:t>05</a:t>
            </a:r>
          </a:p>
        </p:txBody>
      </p:sp>
      <p:sp>
        <p:nvSpPr>
          <p:cNvPr id="28" name="FTitle4"/>
          <p:cNvSpPr/>
          <p:nvPr/>
        </p:nvSpPr>
        <p:spPr>
          <a:xfrm>
            <a:off x="1051560" y="4754880"/>
            <a:ext cx="3474720" cy="384048"/>
          </a:xfrm>
          <a:prstGeom prst="rect">
            <a:avLst/>
          </a:prstGeom>
          <a:noFill/>
          <a:ln>
            <a:noFill/>
          </a:ln>
        </p:spPr>
        <p:txBody>
          <a:bodyPr anchor="t"/>
          <a:lstStyle/>
          <a:p>
            <a:pPr>
              <a:buNone/>
            </a:pPr>
            <a:r>
              <a:rPr lang="en-US" sz="1500" b="1" dirty="0">
                <a:solidFill>
                  <a:srgbClr val="1F2D54"/>
                </a:solidFill>
              </a:rPr>
              <a:t>Baseline Behavior Confirmed Normal</a:t>
            </a:r>
          </a:p>
        </p:txBody>
      </p:sp>
      <p:sp>
        <p:nvSpPr>
          <p:cNvPr id="29" name="FDesc4"/>
          <p:cNvSpPr/>
          <p:nvPr/>
        </p:nvSpPr>
        <p:spPr>
          <a:xfrm>
            <a:off x="4617720" y="4754880"/>
            <a:ext cx="6766560" cy="685800"/>
          </a:xfrm>
          <a:prstGeom prst="rect">
            <a:avLst/>
          </a:prstGeom>
          <a:noFill/>
          <a:ln>
            <a:noFill/>
          </a:ln>
        </p:spPr>
        <p:txBody>
          <a:bodyPr anchor="t"/>
          <a:lstStyle/>
          <a:p>
            <a:pPr>
              <a:buNone/>
            </a:pPr>
            <a:r>
              <a:rPr lang="en-US" sz="1300" dirty="0">
                <a:solidFill>
                  <a:srgbClr val="333333"/>
                </a:solidFill>
              </a:rPr>
              <a:t>Valid Host header produced stable HTTP/2 200 OK — all anomalies isolated directly to injected payloads.</a:t>
            </a:r>
          </a:p>
        </p:txBody>
      </p:sp>
      <p:sp>
        <p:nvSpPr>
          <p:cNvPr id="50" name="SevBg"/>
          <p:cNvSpPr/>
          <p:nvPr/>
        </p:nvSpPr>
        <p:spPr>
          <a:xfrm>
            <a:off x="320040" y="5596128"/>
            <a:ext cx="10515600" cy="457200"/>
          </a:xfrm>
          <a:prstGeom prst="rect">
            <a:avLst/>
          </a:prstGeom>
          <a:solidFill>
            <a:srgbClr val="C0392B"/>
          </a:solidFill>
          <a:ln>
            <a:noFill/>
          </a:ln>
        </p:spPr>
        <p:txBody>
          <a:bodyPr/>
          <a:lstStyle/>
          <a:p>
            <a:endParaRPr/>
          </a:p>
        </p:txBody>
      </p:sp>
      <p:sp>
        <p:nvSpPr>
          <p:cNvPr id="51" name="SevTxt"/>
          <p:cNvSpPr/>
          <p:nvPr/>
        </p:nvSpPr>
        <p:spPr>
          <a:xfrm>
            <a:off x="320040" y="5596128"/>
            <a:ext cx="10515600" cy="457200"/>
          </a:xfrm>
          <a:prstGeom prst="rect">
            <a:avLst/>
          </a:prstGeom>
          <a:noFill/>
          <a:ln>
            <a:noFill/>
          </a:ln>
        </p:spPr>
        <p:txBody>
          <a:bodyPr anchor="t"/>
          <a:lstStyle/>
          <a:p>
            <a:pPr algn="l">
              <a:buNone/>
            </a:pPr>
            <a:r>
              <a:rPr lang="en-US" sz="1550" b="1" dirty="0">
                <a:solidFill>
                  <a:srgbClr val="FFFFFF"/>
                </a:solidFill>
              </a:rPr>
              <a:t>OVERALL SEVERITY: HIGH  —  Immediate remediation recommended across all identified vectors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Risk Analysis — Impact &amp; Likelihood Assessment</a:t>
            </a:r>
          </a:p>
        </p:txBody>
      </p:sp>
      <p:sp>
        <p:nvSpPr>
          <p:cNvPr id="10" name="H0"/>
          <p:cNvSpPr/>
          <p:nvPr/>
        </p:nvSpPr>
        <p:spPr>
          <a:xfrm>
            <a:off x="320040" y="1115568"/>
            <a:ext cx="3474720" cy="457200"/>
          </a:xfrm>
          <a:prstGeom prst="rect">
            <a:avLst/>
          </a:prstGeom>
          <a:solidFill>
            <a:srgbClr val="1F2D54"/>
          </a:solidFill>
          <a:ln>
            <a:noFill/>
          </a:ln>
        </p:spPr>
        <p:txBody>
          <a:bodyPr/>
          <a:lstStyle/>
          <a:p>
            <a:endParaRPr/>
          </a:p>
        </p:txBody>
      </p:sp>
      <p:sp>
        <p:nvSpPr>
          <p:cNvPr id="20" name="HT0"/>
          <p:cNvSpPr/>
          <p:nvPr/>
        </p:nvSpPr>
        <p:spPr>
          <a:xfrm>
            <a:off x="393192" y="1115568"/>
            <a:ext cx="3383280" cy="457200"/>
          </a:xfrm>
          <a:prstGeom prst="rect">
            <a:avLst/>
          </a:prstGeom>
          <a:noFill/>
          <a:ln>
            <a:noFill/>
          </a:ln>
        </p:spPr>
        <p:txBody>
          <a:bodyPr anchor="t"/>
          <a:lstStyle/>
          <a:p>
            <a:pPr algn="l">
              <a:buNone/>
            </a:pPr>
            <a:r>
              <a:rPr lang="en-US" sz="1350" b="1" dirty="0">
                <a:solidFill>
                  <a:srgbClr val="FFFFFF"/>
                </a:solidFill>
              </a:rPr>
              <a:t>Risk Vector</a:t>
            </a:r>
          </a:p>
        </p:txBody>
      </p:sp>
      <p:sp>
        <p:nvSpPr>
          <p:cNvPr id="11" name="H1"/>
          <p:cNvSpPr/>
          <p:nvPr/>
        </p:nvSpPr>
        <p:spPr>
          <a:xfrm>
            <a:off x="3794760" y="1115568"/>
            <a:ext cx="3200400" cy="457200"/>
          </a:xfrm>
          <a:prstGeom prst="rect">
            <a:avLst/>
          </a:prstGeom>
          <a:solidFill>
            <a:srgbClr val="1F2D54"/>
          </a:solidFill>
          <a:ln>
            <a:noFill/>
          </a:ln>
        </p:spPr>
        <p:txBody>
          <a:bodyPr/>
          <a:lstStyle/>
          <a:p>
            <a:endParaRPr/>
          </a:p>
        </p:txBody>
      </p:sp>
      <p:sp>
        <p:nvSpPr>
          <p:cNvPr id="21" name="HT1"/>
          <p:cNvSpPr/>
          <p:nvPr/>
        </p:nvSpPr>
        <p:spPr>
          <a:xfrm>
            <a:off x="3867912" y="1115568"/>
            <a:ext cx="3108960" cy="457200"/>
          </a:xfrm>
          <a:prstGeom prst="rect">
            <a:avLst/>
          </a:prstGeom>
          <a:noFill/>
          <a:ln>
            <a:noFill/>
          </a:ln>
        </p:spPr>
        <p:txBody>
          <a:bodyPr anchor="t"/>
          <a:lstStyle/>
          <a:p>
            <a:pPr algn="l">
              <a:buNone/>
            </a:pPr>
            <a:r>
              <a:rPr lang="en-US" sz="1350" b="1" dirty="0">
                <a:solidFill>
                  <a:srgbClr val="FFFFFF"/>
                </a:solidFill>
              </a:rPr>
              <a:t>Potential Impact</a:t>
            </a:r>
          </a:p>
        </p:txBody>
      </p:sp>
      <p:sp>
        <p:nvSpPr>
          <p:cNvPr id="12" name="H2"/>
          <p:cNvSpPr/>
          <p:nvPr/>
        </p:nvSpPr>
        <p:spPr>
          <a:xfrm>
            <a:off x="6995160" y="1115568"/>
            <a:ext cx="1371600" cy="457200"/>
          </a:xfrm>
          <a:prstGeom prst="rect">
            <a:avLst/>
          </a:prstGeom>
          <a:solidFill>
            <a:srgbClr val="1F2D54"/>
          </a:solidFill>
          <a:ln>
            <a:noFill/>
          </a:ln>
        </p:spPr>
        <p:txBody>
          <a:bodyPr/>
          <a:lstStyle/>
          <a:p>
            <a:endParaRPr/>
          </a:p>
        </p:txBody>
      </p:sp>
      <p:sp>
        <p:nvSpPr>
          <p:cNvPr id="22" name="HT2"/>
          <p:cNvSpPr/>
          <p:nvPr/>
        </p:nvSpPr>
        <p:spPr>
          <a:xfrm>
            <a:off x="7068312" y="1115568"/>
            <a:ext cx="1280160" cy="457200"/>
          </a:xfrm>
          <a:prstGeom prst="rect">
            <a:avLst/>
          </a:prstGeom>
          <a:noFill/>
          <a:ln>
            <a:noFill/>
          </a:ln>
        </p:spPr>
        <p:txBody>
          <a:bodyPr anchor="t"/>
          <a:lstStyle/>
          <a:p>
            <a:pPr algn="l">
              <a:buNone/>
            </a:pPr>
            <a:r>
              <a:rPr lang="en-US" sz="1350" b="1" dirty="0">
                <a:solidFill>
                  <a:srgbClr val="FFFFFF"/>
                </a:solidFill>
              </a:rPr>
              <a:t>Impact</a:t>
            </a:r>
          </a:p>
        </p:txBody>
      </p:sp>
      <p:sp>
        <p:nvSpPr>
          <p:cNvPr id="13" name="H3"/>
          <p:cNvSpPr/>
          <p:nvPr/>
        </p:nvSpPr>
        <p:spPr>
          <a:xfrm>
            <a:off x="8366760" y="1115568"/>
            <a:ext cx="1371600" cy="457200"/>
          </a:xfrm>
          <a:prstGeom prst="rect">
            <a:avLst/>
          </a:prstGeom>
          <a:solidFill>
            <a:srgbClr val="1F2D54"/>
          </a:solidFill>
          <a:ln>
            <a:noFill/>
          </a:ln>
        </p:spPr>
        <p:txBody>
          <a:bodyPr/>
          <a:lstStyle/>
          <a:p>
            <a:endParaRPr/>
          </a:p>
        </p:txBody>
      </p:sp>
      <p:sp>
        <p:nvSpPr>
          <p:cNvPr id="23" name="HT3"/>
          <p:cNvSpPr/>
          <p:nvPr/>
        </p:nvSpPr>
        <p:spPr>
          <a:xfrm>
            <a:off x="8439912" y="1115568"/>
            <a:ext cx="1280160" cy="457200"/>
          </a:xfrm>
          <a:prstGeom prst="rect">
            <a:avLst/>
          </a:prstGeom>
          <a:noFill/>
          <a:ln>
            <a:noFill/>
          </a:ln>
        </p:spPr>
        <p:txBody>
          <a:bodyPr anchor="t"/>
          <a:lstStyle/>
          <a:p>
            <a:pPr algn="l">
              <a:buNone/>
            </a:pPr>
            <a:r>
              <a:rPr lang="en-US" sz="1350" b="1" dirty="0">
                <a:solidFill>
                  <a:srgbClr val="FFFFFF"/>
                </a:solidFill>
              </a:rPr>
              <a:t>Likelihood</a:t>
            </a:r>
          </a:p>
        </p:txBody>
      </p:sp>
      <p:sp>
        <p:nvSpPr>
          <p:cNvPr id="14" name="H4"/>
          <p:cNvSpPr/>
          <p:nvPr/>
        </p:nvSpPr>
        <p:spPr>
          <a:xfrm>
            <a:off x="9738360" y="1115568"/>
            <a:ext cx="1097280" cy="457200"/>
          </a:xfrm>
          <a:prstGeom prst="rect">
            <a:avLst/>
          </a:prstGeom>
          <a:solidFill>
            <a:srgbClr val="1F2D54"/>
          </a:solidFill>
          <a:ln>
            <a:noFill/>
          </a:ln>
        </p:spPr>
        <p:txBody>
          <a:bodyPr/>
          <a:lstStyle/>
          <a:p>
            <a:endParaRPr/>
          </a:p>
        </p:txBody>
      </p:sp>
      <p:sp>
        <p:nvSpPr>
          <p:cNvPr id="24" name="HT4"/>
          <p:cNvSpPr/>
          <p:nvPr/>
        </p:nvSpPr>
        <p:spPr>
          <a:xfrm>
            <a:off x="9811512" y="1115568"/>
            <a:ext cx="1005840" cy="457200"/>
          </a:xfrm>
          <a:prstGeom prst="rect">
            <a:avLst/>
          </a:prstGeom>
          <a:noFill/>
          <a:ln>
            <a:noFill/>
          </a:ln>
        </p:spPr>
        <p:txBody>
          <a:bodyPr anchor="t"/>
          <a:lstStyle/>
          <a:p>
            <a:pPr algn="l">
              <a:buNone/>
            </a:pPr>
            <a:r>
              <a:rPr lang="en-US" sz="1350" b="1" dirty="0">
                <a:solidFill>
                  <a:srgbClr val="FFFFFF"/>
                </a:solidFill>
              </a:rPr>
              <a:t>Severity</a:t>
            </a:r>
          </a:p>
        </p:txBody>
      </p:sp>
      <p:sp>
        <p:nvSpPr>
          <p:cNvPr id="30" name="RC00"/>
          <p:cNvSpPr/>
          <p:nvPr/>
        </p:nvSpPr>
        <p:spPr>
          <a:xfrm>
            <a:off x="320040" y="1609344"/>
            <a:ext cx="3474720" cy="621792"/>
          </a:xfrm>
          <a:prstGeom prst="rect">
            <a:avLst/>
          </a:prstGeom>
          <a:solidFill>
            <a:srgbClr val="EBF3FB"/>
          </a:solidFill>
          <a:ln>
            <a:solidFill>
              <a:srgbClr val="E0E0E0"/>
            </a:solidFill>
          </a:ln>
        </p:spPr>
        <p:txBody>
          <a:bodyPr/>
          <a:lstStyle/>
          <a:p>
            <a:endParaRPr/>
          </a:p>
        </p:txBody>
      </p:sp>
      <p:sp>
        <p:nvSpPr>
          <p:cNvPr id="31" name="RC01"/>
          <p:cNvSpPr/>
          <p:nvPr/>
        </p:nvSpPr>
        <p:spPr>
          <a:xfrm>
            <a:off x="3794760" y="1609344"/>
            <a:ext cx="3200400" cy="621792"/>
          </a:xfrm>
          <a:prstGeom prst="rect">
            <a:avLst/>
          </a:prstGeom>
          <a:solidFill>
            <a:srgbClr val="EBF3FB"/>
          </a:solidFill>
          <a:ln>
            <a:solidFill>
              <a:srgbClr val="E0E0E0"/>
            </a:solidFill>
          </a:ln>
        </p:spPr>
        <p:txBody>
          <a:bodyPr/>
          <a:lstStyle/>
          <a:p>
            <a:endParaRPr/>
          </a:p>
        </p:txBody>
      </p:sp>
      <p:sp>
        <p:nvSpPr>
          <p:cNvPr id="32" name="RC02"/>
          <p:cNvSpPr/>
          <p:nvPr/>
        </p:nvSpPr>
        <p:spPr>
          <a:xfrm>
            <a:off x="6995160" y="1609344"/>
            <a:ext cx="1371600" cy="621792"/>
          </a:xfrm>
          <a:prstGeom prst="rect">
            <a:avLst/>
          </a:prstGeom>
          <a:solidFill>
            <a:srgbClr val="EBF3FB"/>
          </a:solidFill>
          <a:ln>
            <a:solidFill>
              <a:srgbClr val="E0E0E0"/>
            </a:solidFill>
          </a:ln>
        </p:spPr>
        <p:txBody>
          <a:bodyPr/>
          <a:lstStyle/>
          <a:p>
            <a:endParaRPr/>
          </a:p>
        </p:txBody>
      </p:sp>
      <p:sp>
        <p:nvSpPr>
          <p:cNvPr id="33" name="RC03"/>
          <p:cNvSpPr/>
          <p:nvPr/>
        </p:nvSpPr>
        <p:spPr>
          <a:xfrm>
            <a:off x="8366760" y="1609344"/>
            <a:ext cx="1371600" cy="621792"/>
          </a:xfrm>
          <a:prstGeom prst="rect">
            <a:avLst/>
          </a:prstGeom>
          <a:solidFill>
            <a:srgbClr val="EBF3FB"/>
          </a:solidFill>
          <a:ln>
            <a:solidFill>
              <a:srgbClr val="E0E0E0"/>
            </a:solidFill>
          </a:ln>
        </p:spPr>
        <p:txBody>
          <a:bodyPr/>
          <a:lstStyle/>
          <a:p>
            <a:endParaRPr/>
          </a:p>
        </p:txBody>
      </p:sp>
      <p:sp>
        <p:nvSpPr>
          <p:cNvPr id="34" name="RC04"/>
          <p:cNvSpPr/>
          <p:nvPr/>
        </p:nvSpPr>
        <p:spPr>
          <a:xfrm>
            <a:off x="9738360" y="1609344"/>
            <a:ext cx="1097280" cy="621792"/>
          </a:xfrm>
          <a:prstGeom prst="rect">
            <a:avLst/>
          </a:prstGeom>
          <a:solidFill>
            <a:srgbClr val="EBF3FB"/>
          </a:solidFill>
          <a:ln>
            <a:solidFill>
              <a:srgbClr val="E0E0E0"/>
            </a:solidFill>
          </a:ln>
        </p:spPr>
        <p:txBody>
          <a:bodyPr/>
          <a:lstStyle/>
          <a:p>
            <a:endParaRPr/>
          </a:p>
        </p:txBody>
      </p:sp>
      <p:sp>
        <p:nvSpPr>
          <p:cNvPr id="40" name="RT00"/>
          <p:cNvSpPr/>
          <p:nvPr/>
        </p:nvSpPr>
        <p:spPr>
          <a:xfrm>
            <a:off x="411480" y="1609344"/>
            <a:ext cx="3383280" cy="621792"/>
          </a:xfrm>
          <a:prstGeom prst="rect">
            <a:avLst/>
          </a:prstGeom>
          <a:noFill/>
          <a:ln>
            <a:noFill/>
          </a:ln>
        </p:spPr>
        <p:txBody>
          <a:bodyPr anchor="t"/>
          <a:lstStyle/>
          <a:p>
            <a:pPr algn="l">
              <a:buNone/>
            </a:pPr>
            <a:r>
              <a:rPr lang="en-US" sz="1280" b="1" dirty="0">
                <a:solidFill>
                  <a:srgbClr val="1F2D54"/>
                </a:solidFill>
              </a:rPr>
              <a:t>Password Reset Poisoning</a:t>
            </a:r>
          </a:p>
        </p:txBody>
      </p:sp>
      <p:sp>
        <p:nvSpPr>
          <p:cNvPr id="41" name="RT01"/>
          <p:cNvSpPr/>
          <p:nvPr/>
        </p:nvSpPr>
        <p:spPr>
          <a:xfrm>
            <a:off x="3886200" y="1609344"/>
            <a:ext cx="3108960" cy="621792"/>
          </a:xfrm>
          <a:prstGeom prst="rect">
            <a:avLst/>
          </a:prstGeom>
          <a:noFill/>
          <a:ln>
            <a:noFill/>
          </a:ln>
        </p:spPr>
        <p:txBody>
          <a:bodyPr anchor="t"/>
          <a:lstStyle/>
          <a:p>
            <a:pPr algn="l">
              <a:buNone/>
            </a:pPr>
            <a:r>
              <a:rPr lang="en-US" sz="1280" dirty="0">
                <a:solidFill>
                  <a:srgbClr val="444444"/>
                </a:solidFill>
              </a:rPr>
              <a:t>Full account takeover via stolen reset token</a:t>
            </a:r>
          </a:p>
        </p:txBody>
      </p:sp>
      <p:sp>
        <p:nvSpPr>
          <p:cNvPr id="42" name="RT02"/>
          <p:cNvSpPr/>
          <p:nvPr/>
        </p:nvSpPr>
        <p:spPr>
          <a:xfrm>
            <a:off x="7086600" y="1609344"/>
            <a:ext cx="1280160" cy="621792"/>
          </a:xfrm>
          <a:prstGeom prst="rect">
            <a:avLst/>
          </a:prstGeom>
          <a:noFill/>
          <a:ln>
            <a:noFill/>
          </a:ln>
        </p:spPr>
        <p:txBody>
          <a:bodyPr anchor="t"/>
          <a:lstStyle/>
          <a:p>
            <a:pPr algn="l">
              <a:buNone/>
            </a:pPr>
            <a:r>
              <a:rPr lang="en-US" sz="1280" b="1" dirty="0">
                <a:solidFill>
                  <a:srgbClr val="C0392B"/>
                </a:solidFill>
              </a:rPr>
              <a:t>Critical</a:t>
            </a:r>
          </a:p>
        </p:txBody>
      </p:sp>
      <p:sp>
        <p:nvSpPr>
          <p:cNvPr id="43" name="RT03"/>
          <p:cNvSpPr/>
          <p:nvPr/>
        </p:nvSpPr>
        <p:spPr>
          <a:xfrm>
            <a:off x="8458200" y="1609344"/>
            <a:ext cx="1280160" cy="621792"/>
          </a:xfrm>
          <a:prstGeom prst="rect">
            <a:avLst/>
          </a:prstGeom>
          <a:noFill/>
          <a:ln>
            <a:noFill/>
          </a:ln>
        </p:spPr>
        <p:txBody>
          <a:bodyPr anchor="t"/>
          <a:lstStyle/>
          <a:p>
            <a:pPr algn="l">
              <a:buNone/>
            </a:pPr>
            <a:r>
              <a:rPr lang="en-US" sz="1280" dirty="0">
                <a:solidFill>
                  <a:srgbClr val="555555"/>
                </a:solidFill>
              </a:rPr>
              <a:t>High</a:t>
            </a:r>
          </a:p>
        </p:txBody>
      </p:sp>
      <p:sp>
        <p:nvSpPr>
          <p:cNvPr id="44" name="RT04"/>
          <p:cNvSpPr/>
          <p:nvPr/>
        </p:nvSpPr>
        <p:spPr>
          <a:xfrm>
            <a:off x="9829800" y="1609344"/>
            <a:ext cx="1005840" cy="621792"/>
          </a:xfrm>
          <a:prstGeom prst="rect">
            <a:avLst/>
          </a:prstGeom>
          <a:noFill/>
          <a:ln>
            <a:noFill/>
          </a:ln>
        </p:spPr>
        <p:txBody>
          <a:bodyPr anchor="t"/>
          <a:lstStyle/>
          <a:p>
            <a:pPr algn="l">
              <a:buNone/>
            </a:pPr>
            <a:r>
              <a:rPr lang="en-US" sz="1280" b="1" dirty="0">
                <a:solidFill>
                  <a:srgbClr val="C0392B"/>
                </a:solidFill>
              </a:rPr>
              <a:t>HIGH</a:t>
            </a:r>
          </a:p>
        </p:txBody>
      </p:sp>
      <p:sp>
        <p:nvSpPr>
          <p:cNvPr id="3" name="RC10"/>
          <p:cNvSpPr/>
          <p:nvPr/>
        </p:nvSpPr>
        <p:spPr>
          <a:xfrm>
            <a:off x="320040" y="2267712"/>
            <a:ext cx="3474720" cy="621792"/>
          </a:xfrm>
          <a:prstGeom prst="rect">
            <a:avLst/>
          </a:prstGeom>
          <a:solidFill>
            <a:srgbClr val="FFFFFF"/>
          </a:solidFill>
          <a:ln>
            <a:solidFill>
              <a:srgbClr val="E0E0E0"/>
            </a:solidFill>
          </a:ln>
        </p:spPr>
        <p:txBody>
          <a:bodyPr/>
          <a:lstStyle/>
          <a:p>
            <a:endParaRPr/>
          </a:p>
        </p:txBody>
      </p:sp>
      <p:sp>
        <p:nvSpPr>
          <p:cNvPr id="4" name="RC11"/>
          <p:cNvSpPr/>
          <p:nvPr/>
        </p:nvSpPr>
        <p:spPr>
          <a:xfrm>
            <a:off x="3794760" y="2267712"/>
            <a:ext cx="3200400" cy="621792"/>
          </a:xfrm>
          <a:prstGeom prst="rect">
            <a:avLst/>
          </a:prstGeom>
          <a:solidFill>
            <a:srgbClr val="FFFFFF"/>
          </a:solidFill>
          <a:ln>
            <a:solidFill>
              <a:srgbClr val="E0E0E0"/>
            </a:solidFill>
          </a:ln>
        </p:spPr>
        <p:txBody>
          <a:bodyPr/>
          <a:lstStyle/>
          <a:p>
            <a:endParaRPr/>
          </a:p>
        </p:txBody>
      </p:sp>
      <p:sp>
        <p:nvSpPr>
          <p:cNvPr id="5" name="RC12"/>
          <p:cNvSpPr/>
          <p:nvPr/>
        </p:nvSpPr>
        <p:spPr>
          <a:xfrm>
            <a:off x="6995160" y="2267712"/>
            <a:ext cx="1371600" cy="621792"/>
          </a:xfrm>
          <a:prstGeom prst="rect">
            <a:avLst/>
          </a:prstGeom>
          <a:solidFill>
            <a:srgbClr val="FFFFFF"/>
          </a:solidFill>
          <a:ln>
            <a:solidFill>
              <a:srgbClr val="E0E0E0"/>
            </a:solidFill>
          </a:ln>
        </p:spPr>
        <p:txBody>
          <a:bodyPr/>
          <a:lstStyle/>
          <a:p>
            <a:endParaRPr/>
          </a:p>
        </p:txBody>
      </p:sp>
      <p:sp>
        <p:nvSpPr>
          <p:cNvPr id="6" name="RC13"/>
          <p:cNvSpPr/>
          <p:nvPr/>
        </p:nvSpPr>
        <p:spPr>
          <a:xfrm>
            <a:off x="8366760" y="2267712"/>
            <a:ext cx="1371600" cy="621792"/>
          </a:xfrm>
          <a:prstGeom prst="rect">
            <a:avLst/>
          </a:prstGeom>
          <a:solidFill>
            <a:srgbClr val="FFFFFF"/>
          </a:solidFill>
          <a:ln>
            <a:solidFill>
              <a:srgbClr val="E0E0E0"/>
            </a:solidFill>
          </a:ln>
        </p:spPr>
        <p:txBody>
          <a:bodyPr/>
          <a:lstStyle/>
          <a:p>
            <a:endParaRPr/>
          </a:p>
        </p:txBody>
      </p:sp>
      <p:sp>
        <p:nvSpPr>
          <p:cNvPr id="7" name="RC14"/>
          <p:cNvSpPr/>
          <p:nvPr/>
        </p:nvSpPr>
        <p:spPr>
          <a:xfrm>
            <a:off x="9738360" y="2267712"/>
            <a:ext cx="1097280" cy="621792"/>
          </a:xfrm>
          <a:prstGeom prst="rect">
            <a:avLst/>
          </a:prstGeom>
          <a:solidFill>
            <a:srgbClr val="FFFFFF"/>
          </a:solidFill>
          <a:ln>
            <a:solidFill>
              <a:srgbClr val="E0E0E0"/>
            </a:solidFill>
          </a:ln>
        </p:spPr>
        <p:txBody>
          <a:bodyPr/>
          <a:lstStyle/>
          <a:p>
            <a:endParaRPr/>
          </a:p>
        </p:txBody>
      </p:sp>
      <p:sp>
        <p:nvSpPr>
          <p:cNvPr id="50" name="RT10"/>
          <p:cNvSpPr/>
          <p:nvPr/>
        </p:nvSpPr>
        <p:spPr>
          <a:xfrm>
            <a:off x="411480" y="2267712"/>
            <a:ext cx="3383280" cy="621792"/>
          </a:xfrm>
          <a:prstGeom prst="rect">
            <a:avLst/>
          </a:prstGeom>
          <a:noFill/>
          <a:ln>
            <a:noFill/>
          </a:ln>
        </p:spPr>
        <p:txBody>
          <a:bodyPr anchor="t"/>
          <a:lstStyle/>
          <a:p>
            <a:pPr algn="l">
              <a:buNone/>
            </a:pPr>
            <a:r>
              <a:rPr lang="en-US" sz="1280" b="1" dirty="0">
                <a:solidFill>
                  <a:srgbClr val="1F2D54"/>
                </a:solidFill>
              </a:rPr>
              <a:t>Credential Theft</a:t>
            </a:r>
          </a:p>
        </p:txBody>
      </p:sp>
      <p:sp>
        <p:nvSpPr>
          <p:cNvPr id="51" name="RT11"/>
          <p:cNvSpPr/>
          <p:nvPr/>
        </p:nvSpPr>
        <p:spPr>
          <a:xfrm>
            <a:off x="3886200" y="2267712"/>
            <a:ext cx="3108960" cy="621792"/>
          </a:xfrm>
          <a:prstGeom prst="rect">
            <a:avLst/>
          </a:prstGeom>
          <a:noFill/>
          <a:ln>
            <a:noFill/>
          </a:ln>
        </p:spPr>
        <p:txBody>
          <a:bodyPr anchor="t"/>
          <a:lstStyle/>
          <a:p>
            <a:pPr algn="l">
              <a:buNone/>
            </a:pPr>
            <a:r>
              <a:rPr lang="en-US" sz="1280" dirty="0">
                <a:solidFill>
                  <a:srgbClr val="444444"/>
                </a:solidFill>
              </a:rPr>
              <a:t>Attacker captures login credentials from poisoned links</a:t>
            </a:r>
          </a:p>
        </p:txBody>
      </p:sp>
      <p:sp>
        <p:nvSpPr>
          <p:cNvPr id="52" name="RT12"/>
          <p:cNvSpPr/>
          <p:nvPr/>
        </p:nvSpPr>
        <p:spPr>
          <a:xfrm>
            <a:off x="7086600" y="2267712"/>
            <a:ext cx="1280160" cy="621792"/>
          </a:xfrm>
          <a:prstGeom prst="rect">
            <a:avLst/>
          </a:prstGeom>
          <a:noFill/>
          <a:ln>
            <a:noFill/>
          </a:ln>
        </p:spPr>
        <p:txBody>
          <a:bodyPr anchor="t"/>
          <a:lstStyle/>
          <a:p>
            <a:pPr algn="l">
              <a:buNone/>
            </a:pPr>
            <a:r>
              <a:rPr lang="en-US" sz="1280" b="1" dirty="0">
                <a:solidFill>
                  <a:srgbClr val="C0392B"/>
                </a:solidFill>
              </a:rPr>
              <a:t>Critical</a:t>
            </a:r>
          </a:p>
        </p:txBody>
      </p:sp>
      <p:sp>
        <p:nvSpPr>
          <p:cNvPr id="53" name="RT13"/>
          <p:cNvSpPr/>
          <p:nvPr/>
        </p:nvSpPr>
        <p:spPr>
          <a:xfrm>
            <a:off x="8458200" y="2267712"/>
            <a:ext cx="1280160" cy="621792"/>
          </a:xfrm>
          <a:prstGeom prst="rect">
            <a:avLst/>
          </a:prstGeom>
          <a:noFill/>
          <a:ln>
            <a:noFill/>
          </a:ln>
        </p:spPr>
        <p:txBody>
          <a:bodyPr anchor="t"/>
          <a:lstStyle/>
          <a:p>
            <a:pPr algn="l">
              <a:buNone/>
            </a:pPr>
            <a:r>
              <a:rPr lang="en-US" sz="1280" dirty="0">
                <a:solidFill>
                  <a:srgbClr val="555555"/>
                </a:solidFill>
              </a:rPr>
              <a:t>High</a:t>
            </a:r>
          </a:p>
        </p:txBody>
      </p:sp>
      <p:sp>
        <p:nvSpPr>
          <p:cNvPr id="54" name="RT14"/>
          <p:cNvSpPr/>
          <p:nvPr/>
        </p:nvSpPr>
        <p:spPr>
          <a:xfrm>
            <a:off x="9829800" y="2267712"/>
            <a:ext cx="1005840" cy="621792"/>
          </a:xfrm>
          <a:prstGeom prst="rect">
            <a:avLst/>
          </a:prstGeom>
          <a:noFill/>
          <a:ln>
            <a:noFill/>
          </a:ln>
        </p:spPr>
        <p:txBody>
          <a:bodyPr anchor="t"/>
          <a:lstStyle/>
          <a:p>
            <a:pPr algn="l">
              <a:buNone/>
            </a:pPr>
            <a:r>
              <a:rPr lang="en-US" sz="1280" b="1" dirty="0">
                <a:solidFill>
                  <a:srgbClr val="C0392B"/>
                </a:solidFill>
              </a:rPr>
              <a:t>HIGH</a:t>
            </a:r>
          </a:p>
        </p:txBody>
      </p:sp>
      <p:sp>
        <p:nvSpPr>
          <p:cNvPr id="8" name="RC20"/>
          <p:cNvSpPr/>
          <p:nvPr/>
        </p:nvSpPr>
        <p:spPr>
          <a:xfrm>
            <a:off x="320040" y="2926080"/>
            <a:ext cx="3474720" cy="621792"/>
          </a:xfrm>
          <a:prstGeom prst="rect">
            <a:avLst/>
          </a:prstGeom>
          <a:solidFill>
            <a:srgbClr val="EBF3FB"/>
          </a:solidFill>
          <a:ln>
            <a:solidFill>
              <a:srgbClr val="E0E0E0"/>
            </a:solidFill>
          </a:ln>
        </p:spPr>
        <p:txBody>
          <a:bodyPr/>
          <a:lstStyle/>
          <a:p>
            <a:endParaRPr/>
          </a:p>
        </p:txBody>
      </p:sp>
      <p:sp>
        <p:nvSpPr>
          <p:cNvPr id="9" name="RC21"/>
          <p:cNvSpPr/>
          <p:nvPr/>
        </p:nvSpPr>
        <p:spPr>
          <a:xfrm>
            <a:off x="3794760" y="2926080"/>
            <a:ext cx="3200400" cy="621792"/>
          </a:xfrm>
          <a:prstGeom prst="rect">
            <a:avLst/>
          </a:prstGeom>
          <a:solidFill>
            <a:srgbClr val="EBF3FB"/>
          </a:solidFill>
          <a:ln>
            <a:solidFill>
              <a:srgbClr val="E0E0E0"/>
            </a:solidFill>
          </a:ln>
        </p:spPr>
        <p:txBody>
          <a:bodyPr/>
          <a:lstStyle/>
          <a:p>
            <a:endParaRPr/>
          </a:p>
        </p:txBody>
      </p:sp>
      <p:sp>
        <p:nvSpPr>
          <p:cNvPr id="15" name="RC22"/>
          <p:cNvSpPr/>
          <p:nvPr/>
        </p:nvSpPr>
        <p:spPr>
          <a:xfrm>
            <a:off x="6995160" y="2926080"/>
            <a:ext cx="1371600" cy="621792"/>
          </a:xfrm>
          <a:prstGeom prst="rect">
            <a:avLst/>
          </a:prstGeom>
          <a:solidFill>
            <a:srgbClr val="EBF3FB"/>
          </a:solidFill>
          <a:ln>
            <a:solidFill>
              <a:srgbClr val="E0E0E0"/>
            </a:solidFill>
          </a:ln>
        </p:spPr>
        <p:txBody>
          <a:bodyPr/>
          <a:lstStyle/>
          <a:p>
            <a:endParaRPr/>
          </a:p>
        </p:txBody>
      </p:sp>
      <p:sp>
        <p:nvSpPr>
          <p:cNvPr id="16" name="RC23"/>
          <p:cNvSpPr/>
          <p:nvPr/>
        </p:nvSpPr>
        <p:spPr>
          <a:xfrm>
            <a:off x="8366760" y="2926080"/>
            <a:ext cx="1371600" cy="621792"/>
          </a:xfrm>
          <a:prstGeom prst="rect">
            <a:avLst/>
          </a:prstGeom>
          <a:solidFill>
            <a:srgbClr val="EBF3FB"/>
          </a:solidFill>
          <a:ln>
            <a:solidFill>
              <a:srgbClr val="E0E0E0"/>
            </a:solidFill>
          </a:ln>
        </p:spPr>
        <p:txBody>
          <a:bodyPr/>
          <a:lstStyle/>
          <a:p>
            <a:endParaRPr/>
          </a:p>
        </p:txBody>
      </p:sp>
      <p:sp>
        <p:nvSpPr>
          <p:cNvPr id="17" name="RC24"/>
          <p:cNvSpPr/>
          <p:nvPr/>
        </p:nvSpPr>
        <p:spPr>
          <a:xfrm>
            <a:off x="9738360" y="2926080"/>
            <a:ext cx="1097280" cy="621792"/>
          </a:xfrm>
          <a:prstGeom prst="rect">
            <a:avLst/>
          </a:prstGeom>
          <a:solidFill>
            <a:srgbClr val="EBF3FB"/>
          </a:solidFill>
          <a:ln>
            <a:solidFill>
              <a:srgbClr val="E0E0E0"/>
            </a:solidFill>
          </a:ln>
        </p:spPr>
        <p:txBody>
          <a:bodyPr/>
          <a:lstStyle/>
          <a:p>
            <a:endParaRPr/>
          </a:p>
        </p:txBody>
      </p:sp>
      <p:sp>
        <p:nvSpPr>
          <p:cNvPr id="60" name="RT20"/>
          <p:cNvSpPr/>
          <p:nvPr/>
        </p:nvSpPr>
        <p:spPr>
          <a:xfrm>
            <a:off x="411480" y="2926080"/>
            <a:ext cx="3383280" cy="621792"/>
          </a:xfrm>
          <a:prstGeom prst="rect">
            <a:avLst/>
          </a:prstGeom>
          <a:noFill/>
          <a:ln>
            <a:noFill/>
          </a:ln>
        </p:spPr>
        <p:txBody>
          <a:bodyPr anchor="t"/>
          <a:lstStyle/>
          <a:p>
            <a:pPr algn="l">
              <a:buNone/>
            </a:pPr>
            <a:r>
              <a:rPr lang="en-US" sz="1280" b="1" dirty="0">
                <a:solidFill>
                  <a:srgbClr val="1F2D54"/>
                </a:solidFill>
              </a:rPr>
              <a:t>Phishing via Poisoned Links</a:t>
            </a:r>
          </a:p>
        </p:txBody>
      </p:sp>
      <p:sp>
        <p:nvSpPr>
          <p:cNvPr id="61" name="RT21"/>
          <p:cNvSpPr/>
          <p:nvPr/>
        </p:nvSpPr>
        <p:spPr>
          <a:xfrm>
            <a:off x="3886200" y="2926080"/>
            <a:ext cx="3108960" cy="621792"/>
          </a:xfrm>
          <a:prstGeom prst="rect">
            <a:avLst/>
          </a:prstGeom>
          <a:noFill/>
          <a:ln>
            <a:noFill/>
          </a:ln>
        </p:spPr>
        <p:txBody>
          <a:bodyPr anchor="t"/>
          <a:lstStyle/>
          <a:p>
            <a:pPr algn="l">
              <a:buNone/>
            </a:pPr>
            <a:r>
              <a:rPr lang="en-US" sz="1280" dirty="0">
                <a:solidFill>
                  <a:srgbClr val="444444"/>
                </a:solidFill>
              </a:rPr>
              <a:t>Victims receive malicious emails appearing legitimate</a:t>
            </a:r>
          </a:p>
        </p:txBody>
      </p:sp>
      <p:sp>
        <p:nvSpPr>
          <p:cNvPr id="62" name="RT22"/>
          <p:cNvSpPr/>
          <p:nvPr/>
        </p:nvSpPr>
        <p:spPr>
          <a:xfrm>
            <a:off x="7086600" y="2926080"/>
            <a:ext cx="1280160" cy="621792"/>
          </a:xfrm>
          <a:prstGeom prst="rect">
            <a:avLst/>
          </a:prstGeom>
          <a:noFill/>
          <a:ln>
            <a:noFill/>
          </a:ln>
        </p:spPr>
        <p:txBody>
          <a:bodyPr anchor="t"/>
          <a:lstStyle/>
          <a:p>
            <a:pPr algn="l">
              <a:buNone/>
            </a:pPr>
            <a:r>
              <a:rPr lang="en-US" sz="1280" b="1" dirty="0">
                <a:solidFill>
                  <a:srgbClr val="C0392B"/>
                </a:solidFill>
              </a:rPr>
              <a:t>High</a:t>
            </a:r>
          </a:p>
        </p:txBody>
      </p:sp>
      <p:sp>
        <p:nvSpPr>
          <p:cNvPr id="63" name="RT23"/>
          <p:cNvSpPr/>
          <p:nvPr/>
        </p:nvSpPr>
        <p:spPr>
          <a:xfrm>
            <a:off x="8458200" y="2926080"/>
            <a:ext cx="1280160" cy="621792"/>
          </a:xfrm>
          <a:prstGeom prst="rect">
            <a:avLst/>
          </a:prstGeom>
          <a:noFill/>
          <a:ln>
            <a:noFill/>
          </a:ln>
        </p:spPr>
        <p:txBody>
          <a:bodyPr anchor="t"/>
          <a:lstStyle/>
          <a:p>
            <a:pPr algn="l">
              <a:buNone/>
            </a:pPr>
            <a:r>
              <a:rPr lang="en-US" sz="1280" dirty="0">
                <a:solidFill>
                  <a:srgbClr val="555555"/>
                </a:solidFill>
              </a:rPr>
              <a:t>High</a:t>
            </a:r>
          </a:p>
        </p:txBody>
      </p:sp>
      <p:sp>
        <p:nvSpPr>
          <p:cNvPr id="64" name="RT24"/>
          <p:cNvSpPr/>
          <p:nvPr/>
        </p:nvSpPr>
        <p:spPr>
          <a:xfrm>
            <a:off x="9829800" y="2926080"/>
            <a:ext cx="1005840" cy="621792"/>
          </a:xfrm>
          <a:prstGeom prst="rect">
            <a:avLst/>
          </a:prstGeom>
          <a:noFill/>
          <a:ln>
            <a:noFill/>
          </a:ln>
        </p:spPr>
        <p:txBody>
          <a:bodyPr anchor="t"/>
          <a:lstStyle/>
          <a:p>
            <a:pPr algn="l">
              <a:buNone/>
            </a:pPr>
            <a:r>
              <a:rPr lang="en-US" sz="1280" b="1" dirty="0">
                <a:solidFill>
                  <a:srgbClr val="C0392B"/>
                </a:solidFill>
              </a:rPr>
              <a:t>HIGH</a:t>
            </a:r>
          </a:p>
        </p:txBody>
      </p:sp>
      <p:sp>
        <p:nvSpPr>
          <p:cNvPr id="18" name="RC30"/>
          <p:cNvSpPr/>
          <p:nvPr/>
        </p:nvSpPr>
        <p:spPr>
          <a:xfrm>
            <a:off x="320040" y="3584448"/>
            <a:ext cx="3474720" cy="621792"/>
          </a:xfrm>
          <a:prstGeom prst="rect">
            <a:avLst/>
          </a:prstGeom>
          <a:solidFill>
            <a:srgbClr val="FFFFFF"/>
          </a:solidFill>
          <a:ln>
            <a:solidFill>
              <a:srgbClr val="E0E0E0"/>
            </a:solidFill>
          </a:ln>
        </p:spPr>
        <p:txBody>
          <a:bodyPr/>
          <a:lstStyle/>
          <a:p>
            <a:endParaRPr/>
          </a:p>
        </p:txBody>
      </p:sp>
      <p:sp>
        <p:nvSpPr>
          <p:cNvPr id="19" name="RC31"/>
          <p:cNvSpPr/>
          <p:nvPr/>
        </p:nvSpPr>
        <p:spPr>
          <a:xfrm>
            <a:off x="3794760" y="3584448"/>
            <a:ext cx="3200400" cy="621792"/>
          </a:xfrm>
          <a:prstGeom prst="rect">
            <a:avLst/>
          </a:prstGeom>
          <a:solidFill>
            <a:srgbClr val="FFFFFF"/>
          </a:solidFill>
          <a:ln>
            <a:solidFill>
              <a:srgbClr val="E0E0E0"/>
            </a:solidFill>
          </a:ln>
        </p:spPr>
        <p:txBody>
          <a:bodyPr/>
          <a:lstStyle/>
          <a:p>
            <a:endParaRPr/>
          </a:p>
        </p:txBody>
      </p:sp>
      <p:sp>
        <p:nvSpPr>
          <p:cNvPr id="25" name="RC32"/>
          <p:cNvSpPr/>
          <p:nvPr/>
        </p:nvSpPr>
        <p:spPr>
          <a:xfrm>
            <a:off x="6995160" y="3584448"/>
            <a:ext cx="1371600" cy="621792"/>
          </a:xfrm>
          <a:prstGeom prst="rect">
            <a:avLst/>
          </a:prstGeom>
          <a:solidFill>
            <a:srgbClr val="FFFFFF"/>
          </a:solidFill>
          <a:ln>
            <a:solidFill>
              <a:srgbClr val="E0E0E0"/>
            </a:solidFill>
          </a:ln>
        </p:spPr>
        <p:txBody>
          <a:bodyPr/>
          <a:lstStyle/>
          <a:p>
            <a:endParaRPr/>
          </a:p>
        </p:txBody>
      </p:sp>
      <p:sp>
        <p:nvSpPr>
          <p:cNvPr id="26" name="RC33"/>
          <p:cNvSpPr/>
          <p:nvPr/>
        </p:nvSpPr>
        <p:spPr>
          <a:xfrm>
            <a:off x="8366760" y="3584448"/>
            <a:ext cx="1371600" cy="621792"/>
          </a:xfrm>
          <a:prstGeom prst="rect">
            <a:avLst/>
          </a:prstGeom>
          <a:solidFill>
            <a:srgbClr val="FFFFFF"/>
          </a:solidFill>
          <a:ln>
            <a:solidFill>
              <a:srgbClr val="E0E0E0"/>
            </a:solidFill>
          </a:ln>
        </p:spPr>
        <p:txBody>
          <a:bodyPr/>
          <a:lstStyle/>
          <a:p>
            <a:endParaRPr/>
          </a:p>
        </p:txBody>
      </p:sp>
      <p:sp>
        <p:nvSpPr>
          <p:cNvPr id="27" name="RC34"/>
          <p:cNvSpPr/>
          <p:nvPr/>
        </p:nvSpPr>
        <p:spPr>
          <a:xfrm>
            <a:off x="9738360" y="3584448"/>
            <a:ext cx="1097280" cy="621792"/>
          </a:xfrm>
          <a:prstGeom prst="rect">
            <a:avLst/>
          </a:prstGeom>
          <a:solidFill>
            <a:srgbClr val="FFFFFF"/>
          </a:solidFill>
          <a:ln>
            <a:solidFill>
              <a:srgbClr val="E0E0E0"/>
            </a:solidFill>
          </a:ln>
        </p:spPr>
        <p:txBody>
          <a:bodyPr/>
          <a:lstStyle/>
          <a:p>
            <a:endParaRPr/>
          </a:p>
        </p:txBody>
      </p:sp>
      <p:sp>
        <p:nvSpPr>
          <p:cNvPr id="70" name="RT30"/>
          <p:cNvSpPr/>
          <p:nvPr/>
        </p:nvSpPr>
        <p:spPr>
          <a:xfrm>
            <a:off x="411480" y="3584448"/>
            <a:ext cx="3383280" cy="621792"/>
          </a:xfrm>
          <a:prstGeom prst="rect">
            <a:avLst/>
          </a:prstGeom>
          <a:noFill/>
          <a:ln>
            <a:noFill/>
          </a:ln>
        </p:spPr>
        <p:txBody>
          <a:bodyPr anchor="t"/>
          <a:lstStyle/>
          <a:p>
            <a:pPr algn="l">
              <a:buNone/>
            </a:pPr>
            <a:r>
              <a:rPr lang="en-US" sz="1280" b="1" dirty="0">
                <a:solidFill>
                  <a:srgbClr val="1F2D54"/>
                </a:solidFill>
              </a:rPr>
              <a:t>Reverse Proxy Confusion</a:t>
            </a:r>
          </a:p>
        </p:txBody>
      </p:sp>
      <p:sp>
        <p:nvSpPr>
          <p:cNvPr id="71" name="RT31"/>
          <p:cNvSpPr/>
          <p:nvPr/>
        </p:nvSpPr>
        <p:spPr>
          <a:xfrm>
            <a:off x="3886200" y="3584448"/>
            <a:ext cx="3108960" cy="621792"/>
          </a:xfrm>
          <a:prstGeom prst="rect">
            <a:avLst/>
          </a:prstGeom>
          <a:noFill/>
          <a:ln>
            <a:noFill/>
          </a:ln>
        </p:spPr>
        <p:txBody>
          <a:bodyPr anchor="t"/>
          <a:lstStyle/>
          <a:p>
            <a:pPr algn="l">
              <a:buNone/>
            </a:pPr>
            <a:r>
              <a:rPr lang="en-US" sz="1280" dirty="0">
                <a:solidFill>
                  <a:srgbClr val="444444"/>
                </a:solidFill>
              </a:rPr>
              <a:t>Requests misrouted to unintended internal backends</a:t>
            </a:r>
          </a:p>
        </p:txBody>
      </p:sp>
      <p:sp>
        <p:nvSpPr>
          <p:cNvPr id="72" name="RT32"/>
          <p:cNvSpPr/>
          <p:nvPr/>
        </p:nvSpPr>
        <p:spPr>
          <a:xfrm>
            <a:off x="7086600" y="3584448"/>
            <a:ext cx="1280160" cy="621792"/>
          </a:xfrm>
          <a:prstGeom prst="rect">
            <a:avLst/>
          </a:prstGeom>
          <a:noFill/>
          <a:ln>
            <a:noFill/>
          </a:ln>
        </p:spPr>
        <p:txBody>
          <a:bodyPr anchor="t"/>
          <a:lstStyle/>
          <a:p>
            <a:pPr algn="l">
              <a:buNone/>
            </a:pPr>
            <a:r>
              <a:rPr lang="en-US" sz="1280" b="1" dirty="0">
                <a:solidFill>
                  <a:srgbClr val="E67E22"/>
                </a:solidFill>
              </a:rPr>
              <a:t>Medium</a:t>
            </a:r>
          </a:p>
        </p:txBody>
      </p:sp>
      <p:sp>
        <p:nvSpPr>
          <p:cNvPr id="73" name="RT33"/>
          <p:cNvSpPr/>
          <p:nvPr/>
        </p:nvSpPr>
        <p:spPr>
          <a:xfrm>
            <a:off x="8458200" y="3584448"/>
            <a:ext cx="1280160" cy="621792"/>
          </a:xfrm>
          <a:prstGeom prst="rect">
            <a:avLst/>
          </a:prstGeom>
          <a:noFill/>
          <a:ln>
            <a:noFill/>
          </a:ln>
        </p:spPr>
        <p:txBody>
          <a:bodyPr anchor="t"/>
          <a:lstStyle/>
          <a:p>
            <a:pPr algn="l">
              <a:buNone/>
            </a:pPr>
            <a:r>
              <a:rPr lang="en-US" sz="1280" dirty="0">
                <a:solidFill>
                  <a:srgbClr val="555555"/>
                </a:solidFill>
              </a:rPr>
              <a:t>Medium</a:t>
            </a:r>
          </a:p>
        </p:txBody>
      </p:sp>
      <p:sp>
        <p:nvSpPr>
          <p:cNvPr id="74" name="RT34"/>
          <p:cNvSpPr/>
          <p:nvPr/>
        </p:nvSpPr>
        <p:spPr>
          <a:xfrm>
            <a:off x="9829800" y="3584448"/>
            <a:ext cx="1005840" cy="621792"/>
          </a:xfrm>
          <a:prstGeom prst="rect">
            <a:avLst/>
          </a:prstGeom>
          <a:noFill/>
          <a:ln>
            <a:noFill/>
          </a:ln>
        </p:spPr>
        <p:txBody>
          <a:bodyPr anchor="t"/>
          <a:lstStyle/>
          <a:p>
            <a:pPr algn="l">
              <a:buNone/>
            </a:pPr>
            <a:r>
              <a:rPr lang="en-US" sz="1280" b="1" dirty="0">
                <a:solidFill>
                  <a:srgbClr val="E67E22"/>
                </a:solidFill>
              </a:rPr>
              <a:t>MED</a:t>
            </a:r>
          </a:p>
        </p:txBody>
      </p:sp>
      <p:sp>
        <p:nvSpPr>
          <p:cNvPr id="28" name="RC40"/>
          <p:cNvSpPr/>
          <p:nvPr/>
        </p:nvSpPr>
        <p:spPr>
          <a:xfrm>
            <a:off x="320040" y="4242816"/>
            <a:ext cx="3474720" cy="621792"/>
          </a:xfrm>
          <a:prstGeom prst="rect">
            <a:avLst/>
          </a:prstGeom>
          <a:solidFill>
            <a:srgbClr val="EBF3FB"/>
          </a:solidFill>
          <a:ln>
            <a:solidFill>
              <a:srgbClr val="E0E0E0"/>
            </a:solidFill>
          </a:ln>
        </p:spPr>
        <p:txBody>
          <a:bodyPr/>
          <a:lstStyle/>
          <a:p>
            <a:endParaRPr/>
          </a:p>
        </p:txBody>
      </p:sp>
      <p:sp>
        <p:nvSpPr>
          <p:cNvPr id="29" name="RC41"/>
          <p:cNvSpPr/>
          <p:nvPr/>
        </p:nvSpPr>
        <p:spPr>
          <a:xfrm>
            <a:off x="3794760" y="4242816"/>
            <a:ext cx="3200400" cy="621792"/>
          </a:xfrm>
          <a:prstGeom prst="rect">
            <a:avLst/>
          </a:prstGeom>
          <a:solidFill>
            <a:srgbClr val="EBF3FB"/>
          </a:solidFill>
          <a:ln>
            <a:solidFill>
              <a:srgbClr val="E0E0E0"/>
            </a:solidFill>
          </a:ln>
        </p:spPr>
        <p:txBody>
          <a:bodyPr/>
          <a:lstStyle/>
          <a:p>
            <a:endParaRPr/>
          </a:p>
        </p:txBody>
      </p:sp>
      <p:sp>
        <p:nvSpPr>
          <p:cNvPr id="35" name="RC42"/>
          <p:cNvSpPr/>
          <p:nvPr/>
        </p:nvSpPr>
        <p:spPr>
          <a:xfrm>
            <a:off x="6995160" y="4242816"/>
            <a:ext cx="1371600" cy="621792"/>
          </a:xfrm>
          <a:prstGeom prst="rect">
            <a:avLst/>
          </a:prstGeom>
          <a:solidFill>
            <a:srgbClr val="EBF3FB"/>
          </a:solidFill>
          <a:ln>
            <a:solidFill>
              <a:srgbClr val="E0E0E0"/>
            </a:solidFill>
          </a:ln>
        </p:spPr>
        <p:txBody>
          <a:bodyPr/>
          <a:lstStyle/>
          <a:p>
            <a:endParaRPr/>
          </a:p>
        </p:txBody>
      </p:sp>
      <p:sp>
        <p:nvSpPr>
          <p:cNvPr id="36" name="RC43"/>
          <p:cNvSpPr/>
          <p:nvPr/>
        </p:nvSpPr>
        <p:spPr>
          <a:xfrm>
            <a:off x="8366760" y="4242816"/>
            <a:ext cx="1371600" cy="621792"/>
          </a:xfrm>
          <a:prstGeom prst="rect">
            <a:avLst/>
          </a:prstGeom>
          <a:solidFill>
            <a:srgbClr val="EBF3FB"/>
          </a:solidFill>
          <a:ln>
            <a:solidFill>
              <a:srgbClr val="E0E0E0"/>
            </a:solidFill>
          </a:ln>
        </p:spPr>
        <p:txBody>
          <a:bodyPr/>
          <a:lstStyle/>
          <a:p>
            <a:endParaRPr/>
          </a:p>
        </p:txBody>
      </p:sp>
      <p:sp>
        <p:nvSpPr>
          <p:cNvPr id="37" name="RC44"/>
          <p:cNvSpPr/>
          <p:nvPr/>
        </p:nvSpPr>
        <p:spPr>
          <a:xfrm>
            <a:off x="9738360" y="4242816"/>
            <a:ext cx="1097280" cy="621792"/>
          </a:xfrm>
          <a:prstGeom prst="rect">
            <a:avLst/>
          </a:prstGeom>
          <a:solidFill>
            <a:srgbClr val="EBF3FB"/>
          </a:solidFill>
          <a:ln>
            <a:solidFill>
              <a:srgbClr val="E0E0E0"/>
            </a:solidFill>
          </a:ln>
        </p:spPr>
        <p:txBody>
          <a:bodyPr/>
          <a:lstStyle/>
          <a:p>
            <a:endParaRPr/>
          </a:p>
        </p:txBody>
      </p:sp>
      <p:sp>
        <p:nvSpPr>
          <p:cNvPr id="80" name="RT40"/>
          <p:cNvSpPr/>
          <p:nvPr/>
        </p:nvSpPr>
        <p:spPr>
          <a:xfrm>
            <a:off x="411480" y="4242816"/>
            <a:ext cx="3383280" cy="621792"/>
          </a:xfrm>
          <a:prstGeom prst="rect">
            <a:avLst/>
          </a:prstGeom>
          <a:noFill/>
          <a:ln>
            <a:noFill/>
          </a:ln>
        </p:spPr>
        <p:txBody>
          <a:bodyPr anchor="t"/>
          <a:lstStyle/>
          <a:p>
            <a:pPr algn="l">
              <a:buNone/>
            </a:pPr>
            <a:r>
              <a:rPr lang="en-US" sz="1280" b="1" dirty="0">
                <a:solidFill>
                  <a:srgbClr val="1F2D54"/>
                </a:solidFill>
              </a:rPr>
              <a:t>Web Cache Poisoning</a:t>
            </a:r>
          </a:p>
        </p:txBody>
      </p:sp>
      <p:sp>
        <p:nvSpPr>
          <p:cNvPr id="81" name="RT41"/>
          <p:cNvSpPr/>
          <p:nvPr/>
        </p:nvSpPr>
        <p:spPr>
          <a:xfrm>
            <a:off x="3886200" y="4242816"/>
            <a:ext cx="3108960" cy="621792"/>
          </a:xfrm>
          <a:prstGeom prst="rect">
            <a:avLst/>
          </a:prstGeom>
          <a:noFill/>
          <a:ln>
            <a:noFill/>
          </a:ln>
        </p:spPr>
        <p:txBody>
          <a:bodyPr anchor="t"/>
          <a:lstStyle/>
          <a:p>
            <a:pPr algn="l">
              <a:buNone/>
            </a:pPr>
            <a:r>
              <a:rPr lang="en-US" sz="1280" dirty="0">
                <a:solidFill>
                  <a:srgbClr val="444444"/>
                </a:solidFill>
              </a:rPr>
              <a:t>Malicious content served to multiple users via cache</a:t>
            </a:r>
          </a:p>
        </p:txBody>
      </p:sp>
      <p:sp>
        <p:nvSpPr>
          <p:cNvPr id="82" name="RT42"/>
          <p:cNvSpPr/>
          <p:nvPr/>
        </p:nvSpPr>
        <p:spPr>
          <a:xfrm>
            <a:off x="7086600" y="4242816"/>
            <a:ext cx="1280160" cy="621792"/>
          </a:xfrm>
          <a:prstGeom prst="rect">
            <a:avLst/>
          </a:prstGeom>
          <a:noFill/>
          <a:ln>
            <a:noFill/>
          </a:ln>
        </p:spPr>
        <p:txBody>
          <a:bodyPr anchor="t"/>
          <a:lstStyle/>
          <a:p>
            <a:pPr algn="l">
              <a:buNone/>
            </a:pPr>
            <a:r>
              <a:rPr lang="en-US" sz="1280" b="1" dirty="0">
                <a:solidFill>
                  <a:srgbClr val="E67E22"/>
                </a:solidFill>
              </a:rPr>
              <a:t>High</a:t>
            </a:r>
          </a:p>
        </p:txBody>
      </p:sp>
      <p:sp>
        <p:nvSpPr>
          <p:cNvPr id="83" name="RT43"/>
          <p:cNvSpPr/>
          <p:nvPr/>
        </p:nvSpPr>
        <p:spPr>
          <a:xfrm>
            <a:off x="8458200" y="4242816"/>
            <a:ext cx="1280160" cy="621792"/>
          </a:xfrm>
          <a:prstGeom prst="rect">
            <a:avLst/>
          </a:prstGeom>
          <a:noFill/>
          <a:ln>
            <a:noFill/>
          </a:ln>
        </p:spPr>
        <p:txBody>
          <a:bodyPr anchor="t"/>
          <a:lstStyle/>
          <a:p>
            <a:pPr algn="l">
              <a:buNone/>
            </a:pPr>
            <a:r>
              <a:rPr lang="en-US" sz="1280" dirty="0">
                <a:solidFill>
                  <a:srgbClr val="555555"/>
                </a:solidFill>
              </a:rPr>
              <a:t>Medium</a:t>
            </a:r>
          </a:p>
        </p:txBody>
      </p:sp>
      <p:sp>
        <p:nvSpPr>
          <p:cNvPr id="84" name="RT44"/>
          <p:cNvSpPr/>
          <p:nvPr/>
        </p:nvSpPr>
        <p:spPr>
          <a:xfrm>
            <a:off x="9829800" y="4242816"/>
            <a:ext cx="1005840" cy="621792"/>
          </a:xfrm>
          <a:prstGeom prst="rect">
            <a:avLst/>
          </a:prstGeom>
          <a:noFill/>
          <a:ln>
            <a:noFill/>
          </a:ln>
        </p:spPr>
        <p:txBody>
          <a:bodyPr anchor="t"/>
          <a:lstStyle/>
          <a:p>
            <a:pPr algn="l">
              <a:buNone/>
            </a:pPr>
            <a:r>
              <a:rPr lang="en-US" sz="1280" b="1" dirty="0">
                <a:solidFill>
                  <a:srgbClr val="E67E22"/>
                </a:solidFill>
              </a:rPr>
              <a:t>MED</a:t>
            </a:r>
          </a:p>
        </p:txBody>
      </p:sp>
      <p:sp>
        <p:nvSpPr>
          <p:cNvPr id="38" name="RC50"/>
          <p:cNvSpPr/>
          <p:nvPr/>
        </p:nvSpPr>
        <p:spPr>
          <a:xfrm>
            <a:off x="320040" y="4901184"/>
            <a:ext cx="3474720" cy="621792"/>
          </a:xfrm>
          <a:prstGeom prst="rect">
            <a:avLst/>
          </a:prstGeom>
          <a:solidFill>
            <a:srgbClr val="FFFFFF"/>
          </a:solidFill>
          <a:ln>
            <a:solidFill>
              <a:srgbClr val="E0E0E0"/>
            </a:solidFill>
          </a:ln>
        </p:spPr>
        <p:txBody>
          <a:bodyPr/>
          <a:lstStyle/>
          <a:p>
            <a:endParaRPr/>
          </a:p>
        </p:txBody>
      </p:sp>
      <p:sp>
        <p:nvSpPr>
          <p:cNvPr id="39" name="RC51"/>
          <p:cNvSpPr/>
          <p:nvPr/>
        </p:nvSpPr>
        <p:spPr>
          <a:xfrm>
            <a:off x="3794760" y="4901184"/>
            <a:ext cx="3200400" cy="621792"/>
          </a:xfrm>
          <a:prstGeom prst="rect">
            <a:avLst/>
          </a:prstGeom>
          <a:solidFill>
            <a:srgbClr val="FFFFFF"/>
          </a:solidFill>
          <a:ln>
            <a:solidFill>
              <a:srgbClr val="E0E0E0"/>
            </a:solidFill>
          </a:ln>
        </p:spPr>
        <p:txBody>
          <a:bodyPr/>
          <a:lstStyle/>
          <a:p>
            <a:endParaRPr/>
          </a:p>
        </p:txBody>
      </p:sp>
      <p:sp>
        <p:nvSpPr>
          <p:cNvPr id="45" name="RC52"/>
          <p:cNvSpPr/>
          <p:nvPr/>
        </p:nvSpPr>
        <p:spPr>
          <a:xfrm>
            <a:off x="6995160" y="4901184"/>
            <a:ext cx="1371600" cy="621792"/>
          </a:xfrm>
          <a:prstGeom prst="rect">
            <a:avLst/>
          </a:prstGeom>
          <a:solidFill>
            <a:srgbClr val="FFFFFF"/>
          </a:solidFill>
          <a:ln>
            <a:solidFill>
              <a:srgbClr val="E0E0E0"/>
            </a:solidFill>
          </a:ln>
        </p:spPr>
        <p:txBody>
          <a:bodyPr/>
          <a:lstStyle/>
          <a:p>
            <a:endParaRPr/>
          </a:p>
        </p:txBody>
      </p:sp>
      <p:sp>
        <p:nvSpPr>
          <p:cNvPr id="46" name="RC53"/>
          <p:cNvSpPr/>
          <p:nvPr/>
        </p:nvSpPr>
        <p:spPr>
          <a:xfrm>
            <a:off x="8366760" y="4901184"/>
            <a:ext cx="1371600" cy="621792"/>
          </a:xfrm>
          <a:prstGeom prst="rect">
            <a:avLst/>
          </a:prstGeom>
          <a:solidFill>
            <a:srgbClr val="FFFFFF"/>
          </a:solidFill>
          <a:ln>
            <a:solidFill>
              <a:srgbClr val="E0E0E0"/>
            </a:solidFill>
          </a:ln>
        </p:spPr>
        <p:txBody>
          <a:bodyPr/>
          <a:lstStyle/>
          <a:p>
            <a:endParaRPr/>
          </a:p>
        </p:txBody>
      </p:sp>
      <p:sp>
        <p:nvSpPr>
          <p:cNvPr id="47" name="RC54"/>
          <p:cNvSpPr/>
          <p:nvPr/>
        </p:nvSpPr>
        <p:spPr>
          <a:xfrm>
            <a:off x="9738360" y="4901184"/>
            <a:ext cx="1097280" cy="621792"/>
          </a:xfrm>
          <a:prstGeom prst="rect">
            <a:avLst/>
          </a:prstGeom>
          <a:solidFill>
            <a:srgbClr val="FFFFFF"/>
          </a:solidFill>
          <a:ln>
            <a:solidFill>
              <a:srgbClr val="E0E0E0"/>
            </a:solidFill>
          </a:ln>
        </p:spPr>
        <p:txBody>
          <a:bodyPr/>
          <a:lstStyle/>
          <a:p>
            <a:endParaRPr/>
          </a:p>
        </p:txBody>
      </p:sp>
      <p:sp>
        <p:nvSpPr>
          <p:cNvPr id="90" name="RT50"/>
          <p:cNvSpPr/>
          <p:nvPr/>
        </p:nvSpPr>
        <p:spPr>
          <a:xfrm>
            <a:off x="411480" y="4901184"/>
            <a:ext cx="3383280" cy="621792"/>
          </a:xfrm>
          <a:prstGeom prst="rect">
            <a:avLst/>
          </a:prstGeom>
          <a:noFill/>
          <a:ln>
            <a:noFill/>
          </a:ln>
        </p:spPr>
        <p:txBody>
          <a:bodyPr anchor="t"/>
          <a:lstStyle/>
          <a:p>
            <a:pPr algn="l">
              <a:buNone/>
            </a:pPr>
            <a:r>
              <a:rPr lang="en-US" sz="1280" b="1" dirty="0">
                <a:solidFill>
                  <a:srgbClr val="1F2D54"/>
                </a:solidFill>
              </a:rPr>
              <a:t>Authentication Manipulation</a:t>
            </a:r>
          </a:p>
        </p:txBody>
      </p:sp>
      <p:sp>
        <p:nvSpPr>
          <p:cNvPr id="91" name="RT51"/>
          <p:cNvSpPr/>
          <p:nvPr/>
        </p:nvSpPr>
        <p:spPr>
          <a:xfrm>
            <a:off x="3886200" y="4901184"/>
            <a:ext cx="3108960" cy="621792"/>
          </a:xfrm>
          <a:prstGeom prst="rect">
            <a:avLst/>
          </a:prstGeom>
          <a:noFill/>
          <a:ln>
            <a:noFill/>
          </a:ln>
        </p:spPr>
        <p:txBody>
          <a:bodyPr anchor="t"/>
          <a:lstStyle/>
          <a:p>
            <a:pPr algn="l">
              <a:buNone/>
            </a:pPr>
            <a:r>
              <a:rPr lang="en-US" sz="1280" dirty="0">
                <a:solidFill>
                  <a:srgbClr val="444444"/>
                </a:solidFill>
              </a:rPr>
              <a:t>Session and auth flow subverted via header injection</a:t>
            </a:r>
          </a:p>
        </p:txBody>
      </p:sp>
      <p:sp>
        <p:nvSpPr>
          <p:cNvPr id="92" name="RT52"/>
          <p:cNvSpPr/>
          <p:nvPr/>
        </p:nvSpPr>
        <p:spPr>
          <a:xfrm>
            <a:off x="7086600" y="4901184"/>
            <a:ext cx="1280160" cy="621792"/>
          </a:xfrm>
          <a:prstGeom prst="rect">
            <a:avLst/>
          </a:prstGeom>
          <a:noFill/>
          <a:ln>
            <a:noFill/>
          </a:ln>
        </p:spPr>
        <p:txBody>
          <a:bodyPr anchor="t"/>
          <a:lstStyle/>
          <a:p>
            <a:pPr algn="l">
              <a:buNone/>
            </a:pPr>
            <a:r>
              <a:rPr lang="en-US" sz="1280" b="1" dirty="0">
                <a:solidFill>
                  <a:srgbClr val="C0392B"/>
                </a:solidFill>
              </a:rPr>
              <a:t>Critical</a:t>
            </a:r>
          </a:p>
        </p:txBody>
      </p:sp>
      <p:sp>
        <p:nvSpPr>
          <p:cNvPr id="93" name="RT53"/>
          <p:cNvSpPr/>
          <p:nvPr/>
        </p:nvSpPr>
        <p:spPr>
          <a:xfrm>
            <a:off x="8458200" y="4901184"/>
            <a:ext cx="1280160" cy="621792"/>
          </a:xfrm>
          <a:prstGeom prst="rect">
            <a:avLst/>
          </a:prstGeom>
          <a:noFill/>
          <a:ln>
            <a:noFill/>
          </a:ln>
        </p:spPr>
        <p:txBody>
          <a:bodyPr anchor="t"/>
          <a:lstStyle/>
          <a:p>
            <a:pPr algn="l">
              <a:buNone/>
            </a:pPr>
            <a:r>
              <a:rPr lang="en-US" sz="1280" dirty="0">
                <a:solidFill>
                  <a:srgbClr val="555555"/>
                </a:solidFill>
              </a:rPr>
              <a:t>Medium</a:t>
            </a:r>
          </a:p>
        </p:txBody>
      </p:sp>
      <p:sp>
        <p:nvSpPr>
          <p:cNvPr id="94" name="RT54"/>
          <p:cNvSpPr/>
          <p:nvPr/>
        </p:nvSpPr>
        <p:spPr>
          <a:xfrm>
            <a:off x="9829800" y="4901184"/>
            <a:ext cx="1005840" cy="621792"/>
          </a:xfrm>
          <a:prstGeom prst="rect">
            <a:avLst/>
          </a:prstGeom>
          <a:noFill/>
          <a:ln>
            <a:noFill/>
          </a:ln>
        </p:spPr>
        <p:txBody>
          <a:bodyPr anchor="t"/>
          <a:lstStyle/>
          <a:p>
            <a:pPr algn="l">
              <a:buNone/>
            </a:pPr>
            <a:r>
              <a:rPr lang="en-US" sz="1280" b="1" dirty="0">
                <a:solidFill>
                  <a:srgbClr val="C0392B"/>
                </a:solidFill>
              </a:rPr>
              <a:t>HIGH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Mitigation Strategies</a:t>
            </a:r>
          </a:p>
        </p:txBody>
      </p:sp>
      <p:sp>
        <p:nvSpPr>
          <p:cNvPr id="10" name="MC0"/>
          <p:cNvSpPr/>
          <p:nvPr/>
        </p:nvSpPr>
        <p:spPr>
          <a:xfrm>
            <a:off x="320040" y="1115568"/>
            <a:ext cx="3364992" cy="1828800"/>
          </a:xfrm>
          <a:prstGeom prst="rect">
            <a:avLst/>
          </a:prstGeom>
          <a:solidFill>
            <a:srgbClr val="1F2D54"/>
          </a:solidFill>
          <a:ln>
            <a:noFill/>
          </a:ln>
        </p:spPr>
        <p:txBody>
          <a:bodyPr/>
          <a:lstStyle/>
          <a:p>
            <a:endParaRPr/>
          </a:p>
        </p:txBody>
      </p:sp>
      <p:sp>
        <p:nvSpPr>
          <p:cNvPr id="11" name="MT0"/>
          <p:cNvSpPr/>
          <p:nvPr/>
        </p:nvSpPr>
        <p:spPr>
          <a:xfrm>
            <a:off x="457200" y="1252728"/>
            <a:ext cx="3090672" cy="1627632"/>
          </a:xfrm>
          <a:prstGeom prst="rect">
            <a:avLst/>
          </a:prstGeom>
          <a:noFill/>
          <a:ln>
            <a:noFill/>
          </a:ln>
        </p:spPr>
        <p:txBody>
          <a:bodyPr anchor="t"/>
          <a:lstStyle/>
          <a:p>
            <a:pPr>
              <a:buNone/>
            </a:pPr>
            <a:r>
              <a:rPr lang="en-US" sz="1380" b="1" dirty="0">
                <a:solidFill>
                  <a:srgbClr val="FFFFFF"/>
                </a:solidFill>
              </a:rPr>
              <a:t>01  Strict Host Header Whitelisting</a:t>
            </a:r>
          </a:p>
          <a:p>
            <a:pPr>
              <a:buNone/>
            </a:pPr>
            <a:endParaRPr lang="en-US" sz="1380" b="1" dirty="0">
              <a:solidFill>
                <a:srgbClr val="FFFFFF"/>
              </a:solidFill>
            </a:endParaRPr>
          </a:p>
          <a:p>
            <a:pPr>
              <a:buNone/>
            </a:pPr>
            <a:r>
              <a:rPr lang="en-US" sz="1220" dirty="0">
                <a:solidFill>
                  <a:srgbClr val="CCE0F5"/>
                </a:solidFill>
              </a:rPr>
              <a:t>Validate every incoming Host header against a pre-approved list. Reject requests with unknown Host values — return 400 Bad Request immediately.</a:t>
            </a:r>
          </a:p>
        </p:txBody>
      </p:sp>
      <p:sp>
        <p:nvSpPr>
          <p:cNvPr id="13" name="MC1"/>
          <p:cNvSpPr/>
          <p:nvPr/>
        </p:nvSpPr>
        <p:spPr>
          <a:xfrm>
            <a:off x="3895344" y="1115568"/>
            <a:ext cx="3364992" cy="1828800"/>
          </a:xfrm>
          <a:prstGeom prst="rect">
            <a:avLst/>
          </a:prstGeom>
          <a:solidFill>
            <a:srgbClr val="2E6DA4"/>
          </a:solidFill>
          <a:ln>
            <a:noFill/>
          </a:ln>
        </p:spPr>
        <p:txBody>
          <a:bodyPr/>
          <a:lstStyle/>
          <a:p>
            <a:endParaRPr/>
          </a:p>
        </p:txBody>
      </p:sp>
      <p:sp>
        <p:nvSpPr>
          <p:cNvPr id="14" name="MT1"/>
          <p:cNvSpPr/>
          <p:nvPr/>
        </p:nvSpPr>
        <p:spPr>
          <a:xfrm>
            <a:off x="4032504" y="1252728"/>
            <a:ext cx="3090672" cy="1627632"/>
          </a:xfrm>
          <a:prstGeom prst="rect">
            <a:avLst/>
          </a:prstGeom>
          <a:noFill/>
          <a:ln>
            <a:noFill/>
          </a:ln>
        </p:spPr>
        <p:txBody>
          <a:bodyPr anchor="t"/>
          <a:lstStyle/>
          <a:p>
            <a:pPr>
              <a:buNone/>
            </a:pPr>
            <a:r>
              <a:rPr lang="en-US" sz="1380" b="1" dirty="0">
                <a:solidFill>
                  <a:srgbClr val="FFFFFF"/>
                </a:solidFill>
              </a:rPr>
              <a:t>02  Strip Untrusted Forwarded Headers</a:t>
            </a:r>
          </a:p>
          <a:p>
            <a:pPr>
              <a:buNone/>
            </a:pPr>
            <a:endParaRPr lang="en-US" sz="1380" b="1" dirty="0">
              <a:solidFill>
                <a:srgbClr val="FFFFFF"/>
              </a:solidFill>
            </a:endParaRPr>
          </a:p>
          <a:p>
            <a:pPr>
              <a:buNone/>
            </a:pPr>
            <a:r>
              <a:rPr lang="en-US" sz="1220" dirty="0">
                <a:solidFill>
                  <a:srgbClr val="CCE0F5"/>
                </a:solidFill>
              </a:rPr>
              <a:t>Configure reverse proxy to drop X-Forwarded-Host, X-Host, and similar headers from external clients before they reach the backend application.</a:t>
            </a:r>
          </a:p>
        </p:txBody>
      </p:sp>
      <p:sp>
        <p:nvSpPr>
          <p:cNvPr id="16" name="MC2"/>
          <p:cNvSpPr/>
          <p:nvPr/>
        </p:nvSpPr>
        <p:spPr>
          <a:xfrm>
            <a:off x="7470648" y="1115568"/>
            <a:ext cx="3364992" cy="1828800"/>
          </a:xfrm>
          <a:prstGeom prst="rect">
            <a:avLst/>
          </a:prstGeom>
          <a:solidFill>
            <a:srgbClr val="1F2D54"/>
          </a:solidFill>
          <a:ln>
            <a:noFill/>
          </a:ln>
        </p:spPr>
        <p:txBody>
          <a:bodyPr/>
          <a:lstStyle/>
          <a:p>
            <a:endParaRPr/>
          </a:p>
        </p:txBody>
      </p:sp>
      <p:sp>
        <p:nvSpPr>
          <p:cNvPr id="17" name="MT2"/>
          <p:cNvSpPr/>
          <p:nvPr/>
        </p:nvSpPr>
        <p:spPr>
          <a:xfrm>
            <a:off x="7607808" y="1252728"/>
            <a:ext cx="3090672" cy="1627632"/>
          </a:xfrm>
          <a:prstGeom prst="rect">
            <a:avLst/>
          </a:prstGeom>
          <a:noFill/>
          <a:ln>
            <a:noFill/>
          </a:ln>
        </p:spPr>
        <p:txBody>
          <a:bodyPr anchor="t"/>
          <a:lstStyle/>
          <a:p>
            <a:pPr>
              <a:buNone/>
            </a:pPr>
            <a:r>
              <a:rPr lang="en-US" sz="1380" b="1" dirty="0">
                <a:solidFill>
                  <a:srgbClr val="FFFFFF"/>
                </a:solidFill>
              </a:rPr>
              <a:t>03  Block Duplicate Host Headers</a:t>
            </a:r>
          </a:p>
          <a:p>
            <a:pPr>
              <a:buNone/>
            </a:pPr>
            <a:endParaRPr lang="en-US" sz="1380" b="1" dirty="0">
              <a:solidFill>
                <a:srgbClr val="FFFFFF"/>
              </a:solidFill>
            </a:endParaRPr>
          </a:p>
          <a:p>
            <a:pPr>
              <a:buNone/>
            </a:pPr>
            <a:r>
              <a:rPr lang="en-US" sz="1220" dirty="0">
                <a:solidFill>
                  <a:srgbClr val="CCE0F5"/>
                </a:solidFill>
              </a:rPr>
              <a:t>Configure Nginx/Apache/IIS to reject requests containing more than one Host header. Enforce strict RFC 7230 compliance at the server layer.</a:t>
            </a:r>
          </a:p>
        </p:txBody>
      </p:sp>
      <p:sp>
        <p:nvSpPr>
          <p:cNvPr id="19" name="MC3"/>
          <p:cNvSpPr/>
          <p:nvPr/>
        </p:nvSpPr>
        <p:spPr>
          <a:xfrm>
            <a:off x="320040" y="3127248"/>
            <a:ext cx="3364992" cy="1828800"/>
          </a:xfrm>
          <a:prstGeom prst="rect">
            <a:avLst/>
          </a:prstGeom>
          <a:solidFill>
            <a:srgbClr val="C0392B"/>
          </a:solidFill>
          <a:ln>
            <a:noFill/>
          </a:ln>
        </p:spPr>
        <p:txBody>
          <a:bodyPr/>
          <a:lstStyle/>
          <a:p>
            <a:endParaRPr/>
          </a:p>
        </p:txBody>
      </p:sp>
      <p:sp>
        <p:nvSpPr>
          <p:cNvPr id="20" name="MT3"/>
          <p:cNvSpPr/>
          <p:nvPr/>
        </p:nvSpPr>
        <p:spPr>
          <a:xfrm>
            <a:off x="457200" y="3264408"/>
            <a:ext cx="3090672" cy="1627632"/>
          </a:xfrm>
          <a:prstGeom prst="rect">
            <a:avLst/>
          </a:prstGeom>
          <a:noFill/>
          <a:ln>
            <a:noFill/>
          </a:ln>
        </p:spPr>
        <p:txBody>
          <a:bodyPr anchor="t"/>
          <a:lstStyle/>
          <a:p>
            <a:pPr>
              <a:buNone/>
            </a:pPr>
            <a:r>
              <a:rPr lang="en-US" sz="1380" b="1" dirty="0">
                <a:solidFill>
                  <a:srgbClr val="FFFFFF"/>
                </a:solidFill>
              </a:rPr>
              <a:t>04  Hard-code Base URLs in Config</a:t>
            </a:r>
          </a:p>
          <a:p>
            <a:pPr>
              <a:buNone/>
            </a:pPr>
            <a:endParaRPr lang="en-US" sz="1380" b="1" dirty="0">
              <a:solidFill>
                <a:srgbClr val="FFFFFF"/>
              </a:solidFill>
            </a:endParaRPr>
          </a:p>
          <a:p>
            <a:pPr>
              <a:buNone/>
            </a:pPr>
            <a:r>
              <a:rPr lang="en-US" sz="1220" dirty="0">
                <a:solidFill>
                  <a:srgbClr val="CCE0F5"/>
                </a:solidFill>
              </a:rPr>
              <a:t>Generate reset links and email URLs from server-side configuration only. Never derive the domain from the incoming Host header value dynamically.</a:t>
            </a:r>
          </a:p>
        </p:txBody>
      </p:sp>
      <p:sp>
        <p:nvSpPr>
          <p:cNvPr id="22" name="MC4"/>
          <p:cNvSpPr/>
          <p:nvPr/>
        </p:nvSpPr>
        <p:spPr>
          <a:xfrm>
            <a:off x="3895344" y="3127248"/>
            <a:ext cx="3364992" cy="1828800"/>
          </a:xfrm>
          <a:prstGeom prst="rect">
            <a:avLst/>
          </a:prstGeom>
          <a:solidFill>
            <a:srgbClr val="2E6DA4"/>
          </a:solidFill>
          <a:ln>
            <a:noFill/>
          </a:ln>
        </p:spPr>
        <p:txBody>
          <a:bodyPr/>
          <a:lstStyle/>
          <a:p>
            <a:endParaRPr/>
          </a:p>
        </p:txBody>
      </p:sp>
      <p:sp>
        <p:nvSpPr>
          <p:cNvPr id="23" name="MT4"/>
          <p:cNvSpPr/>
          <p:nvPr/>
        </p:nvSpPr>
        <p:spPr>
          <a:xfrm>
            <a:off x="4032504" y="3264408"/>
            <a:ext cx="3090672" cy="1627632"/>
          </a:xfrm>
          <a:prstGeom prst="rect">
            <a:avLst/>
          </a:prstGeom>
          <a:noFill/>
          <a:ln>
            <a:noFill/>
          </a:ln>
        </p:spPr>
        <p:txBody>
          <a:bodyPr anchor="t"/>
          <a:lstStyle/>
          <a:p>
            <a:pPr>
              <a:buNone/>
            </a:pPr>
            <a:r>
              <a:rPr lang="en-US" sz="1380" b="1" dirty="0">
                <a:solidFill>
                  <a:srgbClr val="FFFFFF"/>
                </a:solidFill>
              </a:rPr>
              <a:t>05  Harden Reverse Proxy Rules</a:t>
            </a:r>
          </a:p>
          <a:p>
            <a:pPr>
              <a:buNone/>
            </a:pPr>
            <a:endParaRPr lang="en-US" sz="1380" b="1" dirty="0">
              <a:solidFill>
                <a:srgbClr val="FFFFFF"/>
              </a:solidFill>
            </a:endParaRPr>
          </a:p>
          <a:p>
            <a:pPr>
              <a:buNone/>
            </a:pPr>
            <a:r>
              <a:rPr lang="en-US" sz="1220" dirty="0">
                <a:solidFill>
                  <a:srgbClr val="CCE0F5"/>
                </a:solidFill>
              </a:rPr>
              <a:t>Normalize headers at the proxy layer. Drop requests that do not match expected routing patterns. Audit all proxy configurations regularly.</a:t>
            </a:r>
          </a:p>
        </p:txBody>
      </p:sp>
      <p:sp>
        <p:nvSpPr>
          <p:cNvPr id="25" name="MC5"/>
          <p:cNvSpPr/>
          <p:nvPr/>
        </p:nvSpPr>
        <p:spPr>
          <a:xfrm>
            <a:off x="7470648" y="3127248"/>
            <a:ext cx="3364992" cy="1828800"/>
          </a:xfrm>
          <a:prstGeom prst="rect">
            <a:avLst/>
          </a:prstGeom>
          <a:solidFill>
            <a:srgbClr val="1F2D54"/>
          </a:solidFill>
          <a:ln>
            <a:noFill/>
          </a:ln>
        </p:spPr>
        <p:txBody>
          <a:bodyPr/>
          <a:lstStyle/>
          <a:p>
            <a:endParaRPr/>
          </a:p>
        </p:txBody>
      </p:sp>
      <p:sp>
        <p:nvSpPr>
          <p:cNvPr id="26" name="MT5"/>
          <p:cNvSpPr/>
          <p:nvPr/>
        </p:nvSpPr>
        <p:spPr>
          <a:xfrm>
            <a:off x="7607808" y="3264408"/>
            <a:ext cx="3090672" cy="1627632"/>
          </a:xfrm>
          <a:prstGeom prst="rect">
            <a:avLst/>
          </a:prstGeom>
          <a:noFill/>
          <a:ln>
            <a:noFill/>
          </a:ln>
        </p:spPr>
        <p:txBody>
          <a:bodyPr anchor="t"/>
          <a:lstStyle/>
          <a:p>
            <a:pPr>
              <a:buNone/>
            </a:pPr>
            <a:r>
              <a:rPr lang="en-US" sz="1380" b="1" dirty="0">
                <a:solidFill>
                  <a:srgbClr val="FFFFFF"/>
                </a:solidFill>
              </a:rPr>
              <a:t>06  Security Logging &amp; Alerting</a:t>
            </a:r>
          </a:p>
          <a:p>
            <a:pPr>
              <a:buNone/>
            </a:pPr>
            <a:endParaRPr lang="en-US" sz="1380" b="1" dirty="0">
              <a:solidFill>
                <a:srgbClr val="FFFFFF"/>
              </a:solidFill>
            </a:endParaRPr>
          </a:p>
          <a:p>
            <a:pPr>
              <a:buNone/>
            </a:pPr>
            <a:r>
              <a:rPr lang="en-US" sz="1220" dirty="0">
                <a:solidFill>
                  <a:srgbClr val="CCE0F5"/>
                </a:solidFill>
              </a:rPr>
              <a:t>Log and alert on Host values not matching the canonical domain. Monitor for repeated manipulation attempts indicating active reconnaissance.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2"/>
          <p:cNvSpPr>
            <a:spLocks noGrp="1"/>
          </p:cNvSpPr>
          <p:nvPr>
            <p:ph type="title"/>
          </p:nvPr>
        </p:nvSpPr>
        <p:spPr/>
        <p:txBody>
          <a:bodyPr/>
          <a:lstStyle/>
          <a:p>
            <a:pPr algn="l">
              <a:buNone/>
            </a:pPr>
            <a:r>
              <a:rPr lang="en-US" sz="2800" b="1" dirty="0">
                <a:solidFill>
                  <a:srgbClr val="1F2D54"/>
                </a:solidFill>
              </a:rPr>
              <a:t>Conclusion</a:t>
            </a:r>
          </a:p>
        </p:txBody>
      </p:sp>
      <p:sp>
        <p:nvSpPr>
          <p:cNvPr id="3" name="ConcLeft"/>
          <p:cNvSpPr/>
          <p:nvPr/>
        </p:nvSpPr>
        <p:spPr>
          <a:xfrm>
            <a:off x="320040" y="1115568"/>
            <a:ext cx="6583680" cy="4663440"/>
          </a:xfrm>
          <a:prstGeom prst="rect">
            <a:avLst/>
          </a:prstGeom>
          <a:noFill/>
          <a:ln>
            <a:noFill/>
          </a:ln>
        </p:spPr>
        <p:txBody>
          <a:bodyPr anchor="t"/>
          <a:lstStyle/>
          <a:p>
            <a:pPr>
              <a:buNone/>
            </a:pPr>
            <a:r>
              <a:rPr lang="en-US" sz="1600" b="1" dirty="0">
                <a:solidFill>
                  <a:srgbClr val="1F2D54"/>
                </a:solidFill>
              </a:rPr>
              <a:t>Project Goals Achieved</a:t>
            </a:r>
          </a:p>
          <a:p>
            <a:pPr marL="342900" indent="-228600">
              <a:buFont typeface="Arial"/>
              <a:buChar char="•"/>
            </a:pPr>
            <a:r>
              <a:rPr lang="en-US" sz="1350" dirty="0">
                <a:solidFill>
                  <a:srgbClr val="222222"/>
                </a:solidFill>
              </a:rPr>
              <a:t>Demonstrated full Host Header Injection attack chain in a controlled lab environment</a:t>
            </a:r>
          </a:p>
          <a:p>
            <a:pPr marL="342900" indent="-228600">
              <a:buFont typeface="Arial"/>
              <a:buChar char="•"/>
            </a:pPr>
            <a:r>
              <a:rPr lang="en-US" sz="1350" dirty="0">
                <a:solidFill>
                  <a:srgbClr val="222222"/>
                </a:solidFill>
              </a:rPr>
              <a:t>Covered direct injection, X-Forwarded-Host abuse, and duplicate header scenarios</a:t>
            </a:r>
          </a:p>
          <a:p>
            <a:pPr marL="342900" indent="-228600">
              <a:buFont typeface="Arial"/>
              <a:buChar char="•"/>
            </a:pPr>
            <a:r>
              <a:rPr lang="en-US" sz="1350" dirty="0">
                <a:solidFill>
                  <a:srgbClr val="222222"/>
                </a:solidFill>
              </a:rPr>
              <a:t>All testing conducted ethically within PortSwigger Web Security Academy</a:t>
            </a:r>
          </a:p>
          <a:p>
            <a:pPr>
              <a:buNone/>
            </a:pPr>
            <a:endParaRPr lang="en-US" sz="1350" dirty="0">
              <a:solidFill>
                <a:srgbClr val="222222"/>
              </a:solidFill>
            </a:endParaRPr>
          </a:p>
          <a:p>
            <a:pPr>
              <a:buNone/>
            </a:pPr>
            <a:r>
              <a:rPr lang="en-US" sz="1600" b="1" dirty="0">
                <a:solidFill>
                  <a:srgbClr val="1F2D54"/>
                </a:solidFill>
              </a:rPr>
              <a:t>Core Security Takeaway</a:t>
            </a:r>
          </a:p>
          <a:p>
            <a:pPr marL="342900" indent="-228600">
              <a:buFont typeface="Arial"/>
              <a:buChar char="•"/>
            </a:pPr>
            <a:r>
              <a:rPr lang="en-US" sz="1350" dirty="0">
                <a:solidFill>
                  <a:srgbClr val="C0392B"/>
                </a:solidFill>
              </a:rPr>
              <a:t>Never trust user-supplied Host header values in security-sensitive operations</a:t>
            </a:r>
          </a:p>
          <a:p>
            <a:pPr marL="342900" indent="-228600">
              <a:buFont typeface="Arial"/>
              <a:buChar char="•"/>
            </a:pPr>
            <a:r>
              <a:rPr lang="en-US" sz="1350" dirty="0">
                <a:solidFill>
                  <a:srgbClr val="222222"/>
                </a:solidFill>
              </a:rPr>
              <a:t>Always whitelist, validate, and use hard-coded canonical domains for URL generation</a:t>
            </a:r>
          </a:p>
          <a:p>
            <a:pPr>
              <a:buNone/>
            </a:pPr>
            <a:endParaRPr lang="en-US" sz="1350" dirty="0">
              <a:solidFill>
                <a:srgbClr val="222222"/>
              </a:solidFill>
            </a:endParaRPr>
          </a:p>
          <a:p>
            <a:pPr>
              <a:buNone/>
            </a:pPr>
            <a:r>
              <a:rPr lang="en-US" sz="1600" b="1" dirty="0">
                <a:solidFill>
                  <a:srgbClr val="1F2D54"/>
                </a:solidFill>
              </a:rPr>
              <a:t>Skills &amp; Competencies Gained</a:t>
            </a:r>
          </a:p>
          <a:p>
            <a:pPr marL="342900" indent="-228600">
              <a:buFont typeface="Arial"/>
              <a:buChar char="•"/>
            </a:pPr>
            <a:r>
              <a:rPr lang="en-US" sz="1350" dirty="0">
                <a:solidFill>
                  <a:srgbClr val="222222"/>
                </a:solidFill>
              </a:rPr>
              <a:t>BurpSuite Proxy, Repeater, and HTTP History professional workflows</a:t>
            </a:r>
          </a:p>
          <a:p>
            <a:pPr marL="342900" indent="-228600">
              <a:buFont typeface="Arial"/>
              <a:buChar char="•"/>
            </a:pPr>
            <a:r>
              <a:rPr lang="en-US" sz="1350" dirty="0">
                <a:solidFill>
                  <a:srgbClr val="222222"/>
                </a:solidFill>
              </a:rPr>
              <a:t>HTTP request structure, header manipulation, and vulnerability identification</a:t>
            </a:r>
          </a:p>
          <a:p>
            <a:pPr marL="342900" indent="-228600">
              <a:buFont typeface="Arial"/>
              <a:buChar char="•"/>
            </a:pPr>
            <a:r>
              <a:rPr lang="en-US" sz="1350" dirty="0">
                <a:solidFill>
                  <a:srgbClr val="222222"/>
                </a:solidFill>
              </a:rPr>
              <a:t>Professional penetration testing documentation and evidence reporting</a:t>
            </a:r>
          </a:p>
        </p:txBody>
      </p:sp>
      <p:sp>
        <p:nvSpPr>
          <p:cNvPr id="4" name="SumCard"/>
          <p:cNvSpPr/>
          <p:nvPr/>
        </p:nvSpPr>
        <p:spPr>
          <a:xfrm>
            <a:off x="6172200" y="1115568"/>
            <a:ext cx="4480560" cy="4663440"/>
          </a:xfrm>
          <a:prstGeom prst="rect">
            <a:avLst/>
          </a:prstGeom>
          <a:solidFill>
            <a:srgbClr val="1F2D54"/>
          </a:solidFill>
          <a:ln>
            <a:noFill/>
          </a:ln>
        </p:spPr>
        <p:txBody>
          <a:bodyPr/>
          <a:lstStyle/>
          <a:p>
            <a:endParaRPr/>
          </a:p>
        </p:txBody>
      </p:sp>
      <p:sp>
        <p:nvSpPr>
          <p:cNvPr id="5" name="SumTxt"/>
          <p:cNvSpPr/>
          <p:nvPr/>
        </p:nvSpPr>
        <p:spPr>
          <a:xfrm>
            <a:off x="6355080" y="1298448"/>
            <a:ext cx="4114800" cy="4389120"/>
          </a:xfrm>
          <a:prstGeom prst="rect">
            <a:avLst/>
          </a:prstGeom>
          <a:noFill/>
          <a:ln>
            <a:noFill/>
          </a:ln>
        </p:spPr>
        <p:txBody>
          <a:bodyPr anchor="t"/>
          <a:lstStyle/>
          <a:p>
            <a:pPr>
              <a:buNone/>
            </a:pPr>
            <a:r>
              <a:rPr lang="en-US" sz="1500" b="1" dirty="0">
                <a:solidFill>
                  <a:srgbClr val="FFFFFF"/>
                </a:solidFill>
              </a:rPr>
              <a:t>Assessment Summary</a:t>
            </a:r>
          </a:p>
          <a:p>
            <a:pPr>
              <a:buNone/>
            </a:pPr>
            <a:endParaRPr lang="en-US" sz="1500" b="1" dirty="0">
              <a:solidFill>
                <a:srgbClr val="FFFFFF"/>
              </a:solidFill>
            </a:endParaRPr>
          </a:p>
          <a:p>
            <a:pPr>
              <a:buNone/>
            </a:pPr>
            <a:r>
              <a:rPr lang="en-US" sz="1220" b="1" dirty="0">
                <a:solidFill>
                  <a:srgbClr val="7EC8E3"/>
                </a:solidFill>
              </a:rPr>
              <a:t>Vulnerability: </a:t>
            </a:r>
            <a:r>
              <a:rPr lang="en-US" sz="1220" dirty="0">
                <a:solidFill>
                  <a:srgbClr val="FFFFFF"/>
                </a:solidFill>
              </a:rPr>
              <a:t>Host Header Injection</a:t>
            </a:r>
          </a:p>
          <a:p>
            <a:pPr>
              <a:buNone/>
            </a:pPr>
            <a:r>
              <a:rPr lang="en-US" sz="1220" b="1" dirty="0">
                <a:solidFill>
                  <a:srgbClr val="FFB3B3"/>
                </a:solidFill>
              </a:rPr>
              <a:t>Severity Rating: </a:t>
            </a:r>
            <a:r>
              <a:rPr lang="en-US" sz="1220" dirty="0">
                <a:solidFill>
                  <a:srgbClr val="FFB3B3"/>
                </a:solidFill>
              </a:rPr>
              <a:t>HIGH</a:t>
            </a:r>
          </a:p>
          <a:p>
            <a:pPr>
              <a:buNone/>
            </a:pPr>
            <a:r>
              <a:rPr lang="en-US" sz="1220" b="1" dirty="0">
                <a:solidFill>
                  <a:srgbClr val="7EC8E3"/>
                </a:solidFill>
              </a:rPr>
              <a:t>Affected Function: </a:t>
            </a:r>
            <a:r>
              <a:rPr lang="en-US" sz="1220" dirty="0">
                <a:solidFill>
                  <a:srgbClr val="FFFFFF"/>
                </a:solidFill>
              </a:rPr>
              <a:t>Password Reset Mechanism</a:t>
            </a:r>
          </a:p>
          <a:p>
            <a:pPr>
              <a:buNone/>
            </a:pPr>
            <a:r>
              <a:rPr lang="en-US" sz="1220" b="1" dirty="0">
                <a:solidFill>
                  <a:srgbClr val="7EC8E3"/>
                </a:solidFill>
              </a:rPr>
              <a:t>Attack Vectors: </a:t>
            </a:r>
            <a:r>
              <a:rPr lang="en-US" sz="1220" dirty="0">
                <a:solidFill>
                  <a:srgbClr val="FFFFFF"/>
                </a:solidFill>
              </a:rPr>
              <a:t>3 (Direct, X-Fwd, Duplicate)</a:t>
            </a:r>
          </a:p>
          <a:p>
            <a:pPr>
              <a:buNone/>
            </a:pPr>
            <a:r>
              <a:rPr lang="en-US" sz="1220" b="1" dirty="0">
                <a:solidFill>
                  <a:srgbClr val="7EC8E3"/>
                </a:solidFill>
              </a:rPr>
              <a:t>Testing Platform: </a:t>
            </a:r>
            <a:r>
              <a:rPr lang="en-US" sz="1220" dirty="0">
                <a:solidFill>
                  <a:srgbClr val="FFFFFF"/>
                </a:solidFill>
              </a:rPr>
              <a:t>PortSwigger Web Academy</a:t>
            </a:r>
          </a:p>
          <a:p>
            <a:pPr>
              <a:buNone/>
            </a:pPr>
            <a:r>
              <a:rPr lang="en-US" sz="1220" b="1" dirty="0">
                <a:solidFill>
                  <a:srgbClr val="7EC8E3"/>
                </a:solidFill>
              </a:rPr>
              <a:t>Primary Tool: </a:t>
            </a:r>
            <a:r>
              <a:rPr lang="en-US" sz="1220" dirty="0">
                <a:solidFill>
                  <a:srgbClr val="FFFFFF"/>
                </a:solidFill>
              </a:rPr>
              <a:t>BurpSuite Community Edition</a:t>
            </a:r>
          </a:p>
          <a:p>
            <a:pPr>
              <a:buNone/>
            </a:pPr>
            <a:r>
              <a:rPr lang="en-US" sz="1220" b="1" dirty="0">
                <a:solidFill>
                  <a:srgbClr val="7EC8E3"/>
                </a:solidFill>
              </a:rPr>
              <a:t>Evidence Collected: </a:t>
            </a:r>
            <a:r>
              <a:rPr lang="en-US" sz="1220" dirty="0">
                <a:solidFill>
                  <a:srgbClr val="FFFFFF"/>
                </a:solidFill>
              </a:rPr>
              <a:t>10 Screenshots + Payloads</a:t>
            </a:r>
          </a:p>
          <a:p>
            <a:pPr>
              <a:buNone/>
            </a:pPr>
            <a:r>
              <a:rPr lang="en-US" sz="1220" b="1" dirty="0">
                <a:solidFill>
                  <a:srgbClr val="FFB3B3"/>
                </a:solidFill>
              </a:rPr>
              <a:t>Recommendation: </a:t>
            </a:r>
            <a:r>
              <a:rPr lang="en-US" sz="1220" dirty="0">
                <a:solidFill>
                  <a:srgbClr val="FFB3B3"/>
                </a:solidFill>
              </a:rPr>
              <a:t>Immediate Remediation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Title"/>
          <p:cNvSpPr>
            <a:spLocks noGrp="1"/>
          </p:cNvSpPr>
          <p:nvPr>
            <p:ph type="title"/>
          </p:nvPr>
        </p:nvSpPr>
        <p:spPr/>
        <p:txBody>
          <a:bodyPr/>
          <a:lstStyle/>
          <a:p>
            <a:pPr algn="l">
              <a:buNone/>
            </a:pPr>
            <a:r>
              <a:rPr lang="en-US" sz="3200" b="1" dirty="0">
                <a:solidFill>
                  <a:srgbClr val="1F2D54"/>
                </a:solidFill>
              </a:rPr>
              <a:t>Questions?</a:t>
            </a:r>
          </a:p>
        </p:txBody>
      </p:sp>
      <p:sp>
        <p:nvSpPr>
          <p:cNvPr id="3" name="QSub"/>
          <p:cNvSpPr/>
          <p:nvPr/>
        </p:nvSpPr>
        <p:spPr>
          <a:xfrm>
            <a:off x="1371600" y="2743200"/>
            <a:ext cx="8412480" cy="548640"/>
          </a:xfrm>
          <a:prstGeom prst="rect">
            <a:avLst/>
          </a:prstGeom>
          <a:noFill/>
          <a:ln>
            <a:noFill/>
          </a:ln>
        </p:spPr>
        <p:txBody>
          <a:bodyPr anchor="t"/>
          <a:lstStyle/>
          <a:p>
            <a:pPr algn="l">
              <a:buNone/>
            </a:pPr>
            <a:r>
              <a:rPr lang="en-US" sz="1700" dirty="0">
                <a:solidFill>
                  <a:srgbClr val="444444"/>
                </a:solidFill>
              </a:rPr>
              <a:t>Host Header Injection Testing  |  BurpSuite Community Edition</a:t>
            </a:r>
          </a:p>
        </p:txBody>
      </p:sp>
      <p:sp>
        <p:nvSpPr>
          <p:cNvPr id="4" name="QContact"/>
          <p:cNvSpPr/>
          <p:nvPr/>
        </p:nvSpPr>
        <p:spPr>
          <a:xfrm>
            <a:off x="1371600" y="3383280"/>
            <a:ext cx="8412480" cy="457200"/>
          </a:xfrm>
          <a:prstGeom prst="rect">
            <a:avLst/>
          </a:prstGeom>
          <a:noFill/>
          <a:ln>
            <a:noFill/>
          </a:ln>
        </p:spPr>
        <p:txBody>
          <a:bodyPr anchor="t"/>
          <a:lstStyle/>
          <a:p>
            <a:pPr algn="l">
              <a:buNone/>
            </a:pPr>
            <a:r>
              <a:rPr lang="en-US" sz="1400" i="1" dirty="0">
                <a:solidFill>
                  <a:srgbClr val="888888"/>
                </a:solidFill>
              </a:rPr>
              <a:t>PortSwigger Web Security Academy  |  Severity: HIGH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ext"/>
          <p:cNvSpPr/>
          <p:nvPr/>
        </p:nvSpPr>
        <p:spPr>
          <a:xfrm>
            <a:off x="0" y="1920240"/>
            <a:ext cx="12192000" cy="1600200"/>
          </a:xfrm>
          <a:prstGeom prst="rect">
            <a:avLst/>
          </a:prstGeom>
          <a:noFill/>
          <a:ln>
            <a:noFill/>
          </a:ln>
        </p:spPr>
        <p:txBody>
          <a:bodyPr rtlCol="0" anchor="ctr"/>
          <a:lstStyle/>
          <a:p>
            <a:pPr algn="ctr"/>
            <a:r>
              <a:rPr lang="en-US" sz="6600" b="1" dirty="0">
                <a:solidFill>
                  <a:srgbClr val="FFFFFF"/>
                </a:solidFill>
              </a:rPr>
              <a:t>Thank You!</a:t>
            </a:r>
          </a:p>
        </p:txBody>
      </p:sp>
      <p:sp>
        <p:nvSpPr>
          <p:cNvPr id="6" name="TYSub"/>
          <p:cNvSpPr/>
          <p:nvPr/>
        </p:nvSpPr>
        <p:spPr>
          <a:xfrm>
            <a:off x="0" y="3611880"/>
            <a:ext cx="12192000" cy="548640"/>
          </a:xfrm>
          <a:prstGeom prst="rect">
            <a:avLst/>
          </a:prstGeom>
          <a:noFill/>
          <a:ln>
            <a:noFill/>
          </a:ln>
        </p:spPr>
        <p:txBody>
          <a:bodyPr rtlCol="0" anchor="ctr"/>
          <a:lstStyle/>
          <a:p>
            <a:pPr algn="ctr"/>
            <a:r>
              <a:rPr lang="en-US" sz="1700" dirty="0">
                <a:solidFill>
                  <a:srgbClr val="AACCEE"/>
                </a:solidFill>
              </a:rPr>
              <a:t>Host Header Injection Testing  |  BurpSuite Community Edition  |  PortSwigger Web Security Academy</a:t>
            </a:r>
          </a:p>
        </p:txBody>
      </p:sp>
      <p:sp>
        <p:nvSpPr>
          <p:cNvPr id="2" name="TextBox 1">
            <a:extLst>
              <a:ext uri="{FF2B5EF4-FFF2-40B4-BE49-F238E27FC236}">
                <a16:creationId xmlns:a16="http://schemas.microsoft.com/office/drawing/2014/main" id="{8E28F4CD-2337-D21E-51A6-417AB58701A9}"/>
              </a:ext>
            </a:extLst>
          </p:cNvPr>
          <p:cNvSpPr txBox="1"/>
          <p:nvPr/>
        </p:nvSpPr>
        <p:spPr>
          <a:xfrm>
            <a:off x="4238119" y="5098473"/>
            <a:ext cx="3715761" cy="1077218"/>
          </a:xfrm>
          <a:prstGeom prst="rect">
            <a:avLst/>
          </a:prstGeom>
          <a:noFill/>
        </p:spPr>
        <p:txBody>
          <a:bodyPr wrap="none" rtlCol="0">
            <a:spAutoFit/>
          </a:bodyPr>
          <a:lstStyle/>
          <a:p>
            <a:pPr algn="ctr"/>
            <a:r>
              <a:rPr lang="en-US" sz="2800" b="1" dirty="0">
                <a:solidFill>
                  <a:schemeClr val="bg1"/>
                </a:solidFill>
              </a:rPr>
              <a:t>MOHAMMED ALI</a:t>
            </a:r>
          </a:p>
          <a:p>
            <a:r>
              <a:rPr lang="en-US" b="1" dirty="0">
                <a:solidFill>
                  <a:schemeClr val="bg1"/>
                </a:solidFill>
              </a:rPr>
              <a:t>CYBERSECURITY &amp; ETHICAL HACKING</a:t>
            </a:r>
            <a:endParaRPr lang="en-IN" b="1" dirty="0">
              <a:solidFill>
                <a:schemeClr val="bg1"/>
              </a:solidFill>
            </a:endParaRPr>
          </a:p>
          <a:p>
            <a:endParaRPr lang="en-IN" dirty="0"/>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6901</TotalTime>
  <Words>1916</Words>
  <Application>Microsoft Office PowerPoint</Application>
  <PresentationFormat>Widescreen</PresentationFormat>
  <Paragraphs>281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BIA Template</vt:lpstr>
      <vt:lpstr>PowerPoint Presentation</vt:lpstr>
      <vt:lpstr>Agenda</vt:lpstr>
      <vt:lpstr>Introduction — Host Header Injection</vt:lpstr>
      <vt:lpstr>Tools &amp; Environment Setup</vt:lpstr>
      <vt:lpstr>Phase 1 — BurpSuite Configuration &amp; Proxy Setup</vt:lpstr>
      <vt:lpstr>Phase 1 — Accessing Host Header Injection Labs</vt:lpstr>
      <vt:lpstr>Phase 2 — Traffic Interception &amp; Request Capture</vt:lpstr>
      <vt:lpstr>Phase 2 — HTTP Request Analysis in BurpSuite</vt:lpstr>
      <vt:lpstr>Phase 3 — Host Header Manipulation Payloads</vt:lpstr>
      <vt:lpstr>Phase 3 — Exploit Server Validation (Screenshots)</vt:lpstr>
      <vt:lpstr>Phase 4 &amp; 5 — Advanced Header Injection Testing</vt:lpstr>
      <vt:lpstr>Phase 6 — Final Validation &amp; Comparative Testing</vt:lpstr>
      <vt:lpstr>Key Findings Summary</vt:lpstr>
      <vt:lpstr>Risk Analysis — Impact &amp; Likelihood Assessment</vt:lpstr>
      <vt:lpstr>Mitigation Strategies</vt:lpstr>
      <vt:lpstr>Conclusion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MOHAMMED ALI</cp:lastModifiedBy>
  <cp:revision>2257</cp:revision>
  <dcterms:created xsi:type="dcterms:W3CDTF">2020-12-23T13:36:00Z</dcterms:created>
  <dcterms:modified xsi:type="dcterms:W3CDTF">2026-05-14T11:31:49Z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